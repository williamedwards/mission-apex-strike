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Public Sans" pitchFamily="34" charset="0"/>
      <p:regular r:id="rId24"/>
      <p:bold r:id="rId25"/>
      <p:italic r:id="rId26"/>
      <p:boldItalic r:id="rId27"/>
    </p:embeddedFont>
    <p:embeddedFont>
      <p:font typeface="Oswald" pitchFamily="34" charset="0"/>
      <p:regular r:id="rId28"/>
      <p:bold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William. This is Mission: Apex Strike, a 3D puzzle obstacle course built in Unity 6, where magnetic boots let you walk up walls and across ceilings. I’ll cover what the game is, how it was built, the pipeline I used to go from a text prompt to a playable 3D model, the problems playtesting caught, and how the work split between me and the AI tools. (About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in one line: walk on walls, drop on purpose. You switch the magnetic boots on while standing on a bright magnetic panel, and curved ramps carry you up onto walls and across ceilings. Switch them off and you fall back to the floor, landing upright. That drop is the main puzzle tool: most rooms are about getting somewhere high, then letting go at exactly the right spot. The look was meant to echo Portal’s clean test chambers.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carry the whole game. First, orientation only changes along curves: walk up a quarter-pipe and you’re on the wall; a sharp corner stops you, on purpose, so routes are readable. Second, drops: with the boots off you fall toward the world floor, and a landing marker turns blue, red or gold depending on what’s below. Third, sentries see and shoot only in a flat plane about a metre above their floor; the only way to kill one is to drop on its dome. Fourth, every moving platform runs off one clock that rewinds when you respawn, so timing puzzles behave the same every attempt.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level is one long chamber of fourteen rooms. The first ten each teach a single idea, from walking and jumping up to stomping a sentry. Then three rooms combine them: the Corkscrew takes you floor to wall to ceiling to wall and ends with a drop from a wall onto a sentry; the Diving Board has you walk off a ledge onto a ferry. The Gauntlet is the deliberate challenge: two upside-down shuttles that only meet for two seconds, then a drop onto a sentry on an island, and a running jump onto another one. The AI also wrote a frame-stepped script that plays the whole chamber, so every room is proved solvable.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numbers for scale. The game took about 170 prompts to the coding agent, every one logged in the repository. The agent wrote 344 automated tests along the way, which mattered: the player motor has to work on floors, walls and ceilings, so movement is tested in all six orientations. Art went from 17 concept images to six Tripo models for roughly 750 credits, and sound from 31 generations down to the 13 effects that shipped.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toolchain. Claude Code, on Claude Opus 5.5, wrote all of the code. The key for this assignment is that it drove Unity directly: through the Unity command line and the Pipeline package it could run C# inside the open Editor, enter Play mode, run tests and take screenshots, so it could build a room, play through it and see whether it worked. For art, Claude Code called the Codex CLI to generate concept images, and I turned those into models in Tripo. Sound effects came from the ElevenLabs API, and I made the music in ElevenLabs myself. (About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went through the same loop. I describe what I want and the constraints. The agent proposes a plan, and I question it; sometimes that changes the design. For example, it first built transitions at wall corners, and I said orientation should only change along curves, which became the rule the whole game is built on. Then the agent builds: code, tests, and then it actually plays the result inside the running Editor. I playtest and say what feels wrong, and that loops back until it’s right. Nothing is committed without my go-ahead. Three habits made it work: mechanics in grey boxes before any art, measuring before fixing, and testing every movement rule on floors, walls and ceilings. (About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3D pipeline, the same for every model. One: I describe the asset in a sentence. Two: Claude Code sends that to the Codex CLI, which generates a concept image. The first results looked great but were concept sheets: several views, close-ups, dramatic lighting. Image-to-3D tools get confused by that. Three: the agent rewrites the prompt for Tripo: one view, a neutral A-pose, the whole body in frame, a plain background, no extra panels. I approve it before it runs. Four: we get a clean front view, then generate the back view from it, so the two match. Five: I build the model in Tripo, rig it and add animations. Six: the agent imports it, fixes scale and orientation, and wires it into the game. (About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player in detail. On the left is my original prompt and what came back: a lovely character sheet, with front and back views, a face close-up, chest and boot details. As concept art it’s great, but it’s a bad input for 3D. The agent rewrote it with Tripo in mind: front view only, an A-pose with the arms out so the auto-rigger can separate them, a plain background, nothing loose like capes or straps. Then it generated a back view using the front as the reference, so they match. Those two images went into Tripo, and on the right is the model it produced, rigged as a humanoid with walk, run, idle and jump, plus four more clips I generated from text.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elevator shows the back-and-forth. My first prompt gave a pair of glass tubes, which is the look I wanted but, again, two views on a dark background. The Tripo-ready rewrite was clean but, in my words, too plain. So we asked for a substantial collar and crown with pipes and protrusions, then added steps up into the doorway, and generated the back view from that. When Tripo built it, the floor came out as a ring with a hole in the middle. I asked if that was a problem, and it turned out to be perfect: the moving platform that lifts you sits right in that gap.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examples, both about designing for how the model will be used, not just how it looks. For the sentry, I knew only its head should turn to aim, and Tripo can’t rig a robot that way. So the refined prompt asked for a clear gap between the dome and the legs, so the head reads as a separate part. Tripo split the model into 40 pieces, and the agent grouped them into a body and a head that turns in code. For the moving platforms, the first concept had thrusters and pistons underneath. I noticed those would collide with the level, so we asked for a thin, flat slab with all the detail on the edges. (About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a model into the game was its own step. Tripo exports come in about a metre tall with the Z axis up; the sentry first appeared lying on its back until the agent fixed the axes. The sentry’s 40 parts became two prefabs. For the character’s magnetized walk I generated three walk animations from text in Tripo; the first was too slow to be fun, the second over-reached, and the third, at 3 metres a second, is the one in the game. And every model is a skin over a simple box collider, so swapping art never changed how the physics plays. These are all six models. (About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Sound worked in rounds. The agent wrote prompts and generated effects through the ElevenLabs API, then put the options on a listening page, matched in loudness so I was comparing character, not volume. I picked, we heard it in the game, and my notes set the next round: footsteps too quiet, the hum inaudible, the sentry not menacing enough. Three rounds, 31 generations, 13 sounds in the final game. The music I made myself in ElevenLabs.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tests check that things work; they can’t tell you something looks wrong. All of these came from me playing. When the start elevator rose, the shaft walls flickered in stripes: the floor’s opening was exactly as wide as the shaft, so two surfaces shared a plane and fought. Insetting the walls five millimetres fixed it. Riding a platform jittered, because the player was drawn smoothly between physics steps but the platforms weren’t. And the corridor floors flickered: they ran into the doorways. That one came back when the agent generated new rooms with the same mistake, which is a good reminder that AI-generated content needs re-checking too.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these are things that felt wrong. Sentries could be beaten by jumping in and out of their line of fire, which broke the design, so now they charge as you approach and fire the instant you enter. A platform coming down on me pushed me through the floor; now you’re stepped aside. Sound had two good examples of the AI investigating my vague notes: “footsteps barely audible” turned out to be two of the four clips being completely silent, and “the hum is inaudible” turned out to be a sound entirely below 60 hertz, which laptop speakers can’t play. When I said the footsteps felt slightly off, it measured the animation and found they fired a tenth of a second early. Each problem started as a playtest note from me. (About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workflow: human first, AI in the middle, human last. I started every piece: the concept and its core rules, like curves being the only way to change orientation, every asset idea and first prompt, which rooms to build and how hard to make them, and the Tripo modelling itself. The AI did the heavy middle: all the code and tests, building levels inside the running Editor, rewriting my prompts for each tool, and diagnosing problems by measuring rather than guessing. And I closed every loop: I played each change, chose between options, said what felt wrong, approved anything risky like deleting files, and only then committed. The AI did most of the typing; the decisions about what the game is, and whether it’s any good, stayed with me. (About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Mission: Apex Strike. You can play it in the browser on itch.io, and the repository has the full project, the complete prompt log and every asset’s source prompt. Thank you, and I’m happy to take questions. (About 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131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20" y="1145398"/>
            <a:ext cx="10566533" cy="446982"/>
          </a:xfrm>
          <a:prstGeom prst="rect">
            <a:avLst/>
          </a:prstGeom>
          <a:noFill/>
          <a:ln/>
        </p:spPr>
        <p:txBody>
          <a:bodyPr wrap="square" lIns="0" tIns="0" rIns="0" bIns="0" rtlCol="0" anchor="t"/>
          <a:lstStyle>
            <a:lvl1pPr algn="l" indent="0" marL="0">
              <a:lnSpc>
                <a:spcPct val="115000"/>
              </a:lnSpc>
              <a:buNone/>
              <a:defRPr lang="en-US" sz="3200" dirty="0">
                <a:solidFill>
                  <a:srgbClr val="E8EDF1"/>
                </a:solidFill>
                <a:latin typeface="Oswald" pitchFamily="34" charset="0"/>
                <a:ea typeface="Oswald" pitchFamily="34" charset="-122"/>
                <a:cs typeface="Oswal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20" y="1897181"/>
            <a:ext cx="10566480" cy="4148019"/>
          </a:xfrm>
          <a:prstGeom prst="rect">
            <a:avLst/>
          </a:prstGeom>
          <a:noFill/>
          <a:ln/>
        </p:spPr>
        <p:txBody>
          <a:bodyPr wrap="square" lIns="0" tIns="0" rIns="0" bIns="0" rtlCol="0" anchor="t"/>
          <a:lstStyle>
            <a:lvl1pPr algn="l" indent="0" marL="0">
              <a:lnSpc>
                <a:spcPct val="140000"/>
              </a:lnSpc>
              <a:buNone/>
              <a:defRPr lang="en-US" sz="1600" dirty="0">
                <a:solidFill>
                  <a:srgbClr val="E8EDF1"/>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720" y="1145398"/>
            <a:ext cx="10566533" cy="446982"/>
          </a:xfrm>
          <a:prstGeom prst="rect">
            <a:avLst/>
          </a:prstGeom>
          <a:noFill/>
          <a:ln/>
        </p:spPr>
        <p:txBody>
          <a:bodyPr wrap="square" lIns="0" tIns="0" rIns="0" bIns="0" rtlCol="0" anchor="t"/>
          <a:lstStyle>
            <a:lvl1pPr algn="l" indent="0" marL="0">
              <a:lnSpc>
                <a:spcPct val="115000"/>
              </a:lnSpc>
              <a:buNone/>
              <a:defRPr lang="en-US" sz="3200" dirty="0">
                <a:solidFill>
                  <a:srgbClr val="E8EDF1"/>
                </a:solidFill>
                <a:latin typeface="Oswald" pitchFamily="34" charset="0"/>
                <a:ea typeface="Oswald" pitchFamily="34" charset="-122"/>
                <a:cs typeface="Oswal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20" y="1897181"/>
            <a:ext cx="10566480" cy="4148019"/>
          </a:xfrm>
          <a:prstGeom prst="rect">
            <a:avLst/>
          </a:prstGeom>
          <a:noFill/>
          <a:ln/>
        </p:spPr>
        <p:txBody>
          <a:bodyPr wrap="square" lIns="0" tIns="0" rIns="0" bIns="0" rtlCol="0" anchor="t"/>
          <a:lstStyle>
            <a:lvl1pPr algn="l" indent="0" marL="0">
              <a:lnSpc>
                <a:spcPct val="140000"/>
              </a:lnSpc>
              <a:buNone/>
              <a:defRPr lang="en-US" sz="1600" dirty="0">
                <a:solidFill>
                  <a:srgbClr val="E8EDF1"/>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131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20" y="1145398"/>
            <a:ext cx="10566533" cy="446982"/>
          </a:xfrm>
          <a:prstGeom prst="rect">
            <a:avLst/>
          </a:prstGeom>
          <a:noFill/>
          <a:ln/>
        </p:spPr>
        <p:txBody>
          <a:bodyPr wrap="square" lIns="0" tIns="0" rIns="0" bIns="0" rtlCol="0" anchor="t"/>
          <a:lstStyle>
            <a:lvl1pPr algn="l" indent="0" marL="0">
              <a:lnSpc>
                <a:spcPct val="115000"/>
              </a:lnSpc>
              <a:buNone/>
              <a:defRPr lang="en-US" sz="3200" dirty="0">
                <a:solidFill>
                  <a:srgbClr val="E8EDF1"/>
                </a:solidFill>
                <a:latin typeface="Oswald" pitchFamily="34" charset="0"/>
                <a:ea typeface="Oswald" pitchFamily="34" charset="-122"/>
                <a:cs typeface="Oswal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20" y="1897181"/>
            <a:ext cx="10566480" cy="4148019"/>
          </a:xfrm>
          <a:prstGeom prst="rect">
            <a:avLst/>
          </a:prstGeom>
          <a:noFill/>
          <a:ln/>
        </p:spPr>
        <p:txBody>
          <a:bodyPr wrap="square" lIns="0" tIns="0" rIns="0" bIns="0" rtlCol="0" anchor="t"/>
          <a:lstStyle>
            <a:lvl1pPr algn="l" indent="0" marL="0">
              <a:lnSpc>
                <a:spcPct val="140000"/>
              </a:lnSpc>
              <a:buNone/>
              <a:defRPr lang="en-US" sz="1600" dirty="0">
                <a:solidFill>
                  <a:srgbClr val="E8EDF1"/>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jpe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jpe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jpeg"/><Relationship Id="rId4" Type="http://schemas.openxmlformats.org/officeDocument/2006/relationships/image" Target="../media/image-9-4.jpe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jpeg"/><Relationship Id="rId4" Type="http://schemas.openxmlformats.org/officeDocument/2006/relationships/image" Target="../media/image-10-4.png"/><Relationship Id="rId5" Type="http://schemas.openxmlformats.org/officeDocument/2006/relationships/image" Target="../media/image-10-5.jpeg"/><Relationship Id="rId6" Type="http://schemas.openxmlformats.org/officeDocument/2006/relationships/image" Target="../media/image-10-6.png"/><Relationship Id="rId7" Type="http://schemas.openxmlformats.org/officeDocument/2006/relationships/image" Target="../media/image-10-7.jpe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jpe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jpeg"/><Relationship Id="rId7" Type="http://schemas.openxmlformats.org/officeDocument/2006/relationships/image" Target="../media/image-11-7.png"/><Relationship Id="rId8" Type="http://schemas.openxmlformats.org/officeDocument/2006/relationships/image" Target="../media/image-11-8.jpe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2.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he player character: an athletic man in a blue jumpsuit with a grey exoskeleton and glowing blue lights, generated in Tripo">    </p:cNvPr>
          <p:cNvPicPr>
            <a:picLocks noChangeAspect="1"/>
          </p:cNvPicPr>
          <p:nvPr/>
        </p:nvPicPr>
        <p:blipFill>
          <a:blip r:embed="rId1"/>
          <a:srcRect l="0" r="0" t="0" b="0"/>
          <a:stretch/>
        </p:blipFill>
        <p:spPr>
          <a:xfrm>
            <a:off x="6603925" y="380954"/>
            <a:ext cx="5714942" cy="5714942"/>
          </a:xfrm>
          <a:prstGeom prst="rect">
            <a:avLst/>
          </a:prstGeom>
        </p:spPr>
      </p:pic>
      <p:sp>
        <p:nvSpPr>
          <p:cNvPr id="3" name="Text 0"/>
          <p:cNvSpPr/>
          <p:nvPr/>
        </p:nvSpPr>
        <p:spPr>
          <a:xfrm>
            <a:off x="812720" y="1728603"/>
            <a:ext cx="5624802" cy="27429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5C7F5"/>
                </a:solidFill>
                <a:latin typeface="Public Sans" pitchFamily="34" charset="0"/>
                <a:ea typeface="Public Sans" pitchFamily="34" charset="-122"/>
                <a:cs typeface="Public Sans" pitchFamily="34" charset="-120"/>
              </a:rPr>
              <a:t>AME 294 · PG3: UNREAL OR UNITY MCP GAME</a:t>
            </a:r>
            <a:endParaRPr lang="en-US" sz="1400" dirty="0"/>
          </a:p>
        </p:txBody>
      </p:sp>
      <p:sp>
        <p:nvSpPr>
          <p:cNvPr id="4" name="Text 1"/>
          <p:cNvSpPr/>
          <p:nvPr>
            <p:ph type="title"/>
          </p:nvPr>
        </p:nvSpPr>
        <p:spPr>
          <a:xfrm>
            <a:off x="812720" y="2180657"/>
            <a:ext cx="5886390" cy="1701742"/>
          </a:xfrm>
          <a:prstGeom prst="rect">
            <a:avLst/>
          </a:prstGeom>
          <a:noFill/>
          <a:ln/>
        </p:spPr>
        <p:txBody>
          <a:bodyPr wrap="square" lIns="0" tIns="0" rIns="0" bIns="0" rtlCol="0" anchor="t">
            <a:normAutofit/>
          </a:bodyPr>
          <a:lstStyle/>
          <a:p>
            <a:pPr algn="l" indent="0" marL="0">
              <a:lnSpc>
                <a:spcPts val="6600"/>
              </a:lnSpc>
              <a:buNone/>
            </a:pPr>
            <a:r>
              <a:rPr lang="en-US" sz="6600" b="1" i="0" spc="100" kern="0" dirty="0">
                <a:solidFill>
                  <a:srgbClr val="E8EDF1"/>
                </a:solidFill>
                <a:latin typeface="Oswald" pitchFamily="34" charset="0"/>
                <a:ea typeface="Oswald" pitchFamily="34" charset="-122"/>
                <a:cs typeface="Oswald" pitchFamily="34" charset="-120"/>
              </a:rPr>
              <a:t>MISSION:</a:t>
            </a:r>
            <a:endParaRPr lang="en-US" sz="6600" dirty="0"/>
          </a:p>
          <a:p>
            <a:pPr algn="l" indent="0" marL="0">
              <a:lnSpc>
                <a:spcPts val="6600"/>
              </a:lnSpc>
              <a:buNone/>
            </a:pPr>
            <a:r>
              <a:rPr lang="en-US" sz="6600" b="1" i="0" spc="100" kern="0" dirty="0">
                <a:solidFill>
                  <a:srgbClr val="E8EDF1"/>
                </a:solidFill>
                <a:latin typeface="Oswald" pitchFamily="34" charset="0"/>
                <a:ea typeface="Oswald" pitchFamily="34" charset="-122"/>
                <a:cs typeface="Oswald" pitchFamily="34" charset="-120"/>
              </a:rPr>
              <a:t>APEX STRIKE</a:t>
            </a:r>
            <a:endParaRPr lang="en-US" sz="6600" dirty="0"/>
          </a:p>
        </p:txBody>
      </p:sp>
      <p:sp>
        <p:nvSpPr>
          <p:cNvPr id="5" name="Text 2"/>
          <p:cNvSpPr/>
          <p:nvPr/>
        </p:nvSpPr>
        <p:spPr>
          <a:xfrm>
            <a:off x="812720" y="4060156"/>
            <a:ext cx="5363120" cy="64257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3CFD8"/>
                </a:solidFill>
                <a:latin typeface="Public Sans" pitchFamily="34" charset="0"/>
                <a:ea typeface="Public Sans" pitchFamily="34" charset="-122"/>
                <a:cs typeface="Public Sans" pitchFamily="34" charset="-120"/>
              </a:rPr>
              <a:t>A magnetic-boots puzzle game in Unity 6, and how it was built with AI</a:t>
            </a:r>
            <a:endParaRPr lang="en-US" sz="1800" dirty="0"/>
          </a:p>
        </p:txBody>
      </p:sp>
      <p:sp>
        <p:nvSpPr>
          <p:cNvPr id="6" name="Text 3"/>
          <p:cNvSpPr/>
          <p:nvPr/>
        </p:nvSpPr>
        <p:spPr>
          <a:xfrm>
            <a:off x="812720" y="4880484"/>
            <a:ext cx="5363120"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BB9"/>
                </a:solidFill>
                <a:latin typeface="Public Sans" pitchFamily="34" charset="0"/>
                <a:ea typeface="Public Sans" pitchFamily="34" charset="-122"/>
                <a:cs typeface="Public Sans" pitchFamily="34" charset="-120"/>
              </a:rPr>
              <a:t>William Edwards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1219216"/>
            <a:ext cx="3924291"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5C7F5"/>
                </a:solidFill>
                <a:latin typeface="Public Sans" pitchFamily="34" charset="0"/>
                <a:ea typeface="Public Sans" pitchFamily="34" charset="-122"/>
                <a:cs typeface="Public Sans" pitchFamily="34" charset="-120"/>
              </a:rPr>
              <a:t>THE GAME</a:t>
            </a:r>
            <a:endParaRPr lang="en-US" sz="1300" dirty="0"/>
          </a:p>
        </p:txBody>
      </p:sp>
      <p:sp>
        <p:nvSpPr>
          <p:cNvPr id="3" name="Text 1"/>
          <p:cNvSpPr/>
          <p:nvPr>
            <p:ph type="title"/>
          </p:nvPr>
        </p:nvSpPr>
        <p:spPr>
          <a:xfrm>
            <a:off x="812720" y="1653518"/>
            <a:ext cx="3924291" cy="1671219"/>
          </a:xfrm>
          <a:prstGeom prst="rect">
            <a:avLst/>
          </a:prstGeom>
          <a:noFill/>
          <a:ln/>
        </p:spPr>
        <p:txBody>
          <a:bodyPr wrap="square" lIns="0" tIns="0" rIns="0" bIns="0" rtlCol="0" anchor="t">
            <a:normAutofit/>
          </a:bodyPr>
          <a:lstStyle/>
          <a:p>
            <a:pPr algn="l" indent="0" marL="0">
              <a:lnSpc>
                <a:spcPts val="4320"/>
              </a:lnSpc>
              <a:buNone/>
            </a:pPr>
            <a:r>
              <a:rPr lang="en-US" sz="4000" b="0" i="0" dirty="0">
                <a:solidFill>
                  <a:srgbClr val="E8EDF1"/>
                </a:solidFill>
                <a:latin typeface="Oswald" pitchFamily="34" charset="0"/>
                <a:ea typeface="Oswald" pitchFamily="34" charset="-122"/>
                <a:cs typeface="Oswald" pitchFamily="34" charset="-120"/>
              </a:rPr>
              <a:t>WALK ON WALLS.</a:t>
            </a:r>
            <a:endParaRPr lang="en-US" sz="4000" dirty="0"/>
          </a:p>
          <a:p>
            <a:pPr algn="l" indent="0" marL="0">
              <a:lnSpc>
                <a:spcPts val="4320"/>
              </a:lnSpc>
              <a:buNone/>
            </a:pPr>
            <a:r>
              <a:rPr lang="en-US" sz="4000" b="0" i="0" dirty="0">
                <a:solidFill>
                  <a:srgbClr val="E8EDF1"/>
                </a:solidFill>
                <a:latin typeface="Oswald" pitchFamily="34" charset="0"/>
                <a:ea typeface="Oswald" pitchFamily="34" charset="-122"/>
                <a:cs typeface="Oswald" pitchFamily="34" charset="-120"/>
              </a:rPr>
              <a:t>DROP ON PURPOSE.</a:t>
            </a:r>
            <a:endParaRPr lang="en-US" sz="4000" dirty="0"/>
          </a:p>
        </p:txBody>
      </p:sp>
      <p:sp>
        <p:nvSpPr>
          <p:cNvPr id="4" name="Text 2"/>
          <p:cNvSpPr/>
          <p:nvPr/>
        </p:nvSpPr>
        <p:spPr>
          <a:xfrm>
            <a:off x="812720" y="3502493"/>
            <a:ext cx="3924291" cy="1130039"/>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C3CFD8"/>
                </a:solidFill>
                <a:latin typeface="Public Sans" pitchFamily="34" charset="0"/>
                <a:ea typeface="Public Sans" pitchFamily="34" charset="-122"/>
                <a:cs typeface="Public Sans" pitchFamily="34" charset="-120"/>
              </a:rPr>
              <a:t>A 3D puzzle obstacle course. Magnetic boots stick to bright panels, curves carry you onto walls and ceilings, and switching the boots off drops you back to the floor.</a:t>
            </a:r>
            <a:endParaRPr lang="en-US" sz="1500" dirty="0"/>
          </a:p>
        </p:txBody>
      </p:sp>
      <p:sp>
        <p:nvSpPr>
          <p:cNvPr id="5" name="Text 3"/>
          <p:cNvSpPr/>
          <p:nvPr/>
        </p:nvSpPr>
        <p:spPr>
          <a:xfrm>
            <a:off x="812720" y="4810290"/>
            <a:ext cx="3924291" cy="85388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C3CFD8"/>
                </a:solidFill>
                <a:latin typeface="Public Sans" pitchFamily="34" charset="0"/>
                <a:ea typeface="Public Sans" pitchFamily="34" charset="-122"/>
                <a:cs typeface="Public Sans" pitchFamily="34" charset="-120"/>
              </a:rPr>
              <a:t>The original brief: </a:t>
            </a:r>
            <a:r>
              <a:rPr lang="en-US" sz="1500" i="1" dirty="0">
                <a:solidFill>
                  <a:srgbClr val="C3CFD8"/>
                </a:solidFill>
                <a:latin typeface="Public Sans" pitchFamily="34" charset="0"/>
                <a:ea typeface="Public Sans" pitchFamily="34" charset="-122"/>
                <a:cs typeface="Public Sans" pitchFamily="34" charset="-120"/>
              </a:rPr>
              <a:t>“an obstacle course with gravity effects enabled by Magnetic Boots… sci-fi/Portal style.”</a:t>
            </a:r>
            <a:endParaRPr lang="en-US" sz="1500" dirty="0"/>
          </a:p>
        </p:txBody>
      </p:sp>
      <p:pic>
        <p:nvPicPr>
          <p:cNvPr id="6" name="Image 0" descr="The player stands magnetized at the foot of a curved ramp marked with glowing blue chevrons, with a Demagnetize boots hint">    </p:cNvPr>
          <p:cNvPicPr>
            <a:picLocks noChangeAspect="1"/>
          </p:cNvPicPr>
          <p:nvPr/>
        </p:nvPicPr>
        <p:blipFill>
          <a:blip r:embed="rId1"/>
          <a:srcRect l="0" r="0" t="200" b="200"/>
          <a:stretch/>
        </p:blipFill>
        <p:spPr>
          <a:xfrm>
            <a:off x="5035376" y="923954"/>
            <a:ext cx="6337255" cy="2317676"/>
          </a:xfrm>
          <a:prstGeom prst="roundRect">
            <a:avLst>
              <a:gd name="adj" fmla="val 4110"/>
            </a:avLst>
          </a:prstGeom>
        </p:spPr>
      </p:pic>
      <p:sp>
        <p:nvSpPr>
          <p:cNvPr id="7" name="Shape 4"/>
          <p:cNvSpPr/>
          <p:nvPr/>
        </p:nvSpPr>
        <p:spPr>
          <a:xfrm>
            <a:off x="5032201" y="920779"/>
            <a:ext cx="6343605" cy="2324026"/>
          </a:xfrm>
          <a:prstGeom prst="roundRect">
            <a:avLst>
              <a:gd name="adj" fmla="val 4235"/>
            </a:avLst>
          </a:prstGeom>
          <a:noFill/>
          <a:ln w="6350">
            <a:solidFill>
              <a:srgbClr val="2A3644"/>
            </a:solidFill>
            <a:prstDash val="solid"/>
          </a:ln>
        </p:spPr>
      </p:sp>
      <p:pic>
        <p:nvPicPr>
          <p:cNvPr id="8" name="Image 1" descr="The player inside the glass start elevator, looking out into the first white test chamber">    </p:cNvPr>
          <p:cNvPicPr>
            <a:picLocks noChangeAspect="1"/>
          </p:cNvPicPr>
          <p:nvPr/>
        </p:nvPicPr>
        <p:blipFill>
          <a:blip r:embed="rId2"/>
          <a:srcRect l="0" r="0" t="14552" b="14552"/>
          <a:stretch/>
        </p:blipFill>
        <p:spPr>
          <a:xfrm>
            <a:off x="5035376" y="3406676"/>
            <a:ext cx="6337255" cy="2527264"/>
          </a:xfrm>
          <a:prstGeom prst="roundRect">
            <a:avLst>
              <a:gd name="adj" fmla="val 3769"/>
            </a:avLst>
          </a:prstGeom>
        </p:spPr>
      </p:pic>
      <p:sp>
        <p:nvSpPr>
          <p:cNvPr id="9" name="Shape 5"/>
          <p:cNvSpPr/>
          <p:nvPr/>
        </p:nvSpPr>
        <p:spPr>
          <a:xfrm>
            <a:off x="5032201" y="3403501"/>
            <a:ext cx="6343605" cy="2533614"/>
          </a:xfrm>
          <a:prstGeom prst="roundRect">
            <a:avLst>
              <a:gd name="adj" fmla="val 3885"/>
            </a:avLst>
          </a:prstGeom>
          <a:noFill/>
          <a:ln w="6350">
            <a:solidFill>
              <a:srgbClr val="2A3644"/>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5C7F5"/>
                </a:solidFill>
                <a:latin typeface="Public Sans" pitchFamily="34" charset="0"/>
                <a:ea typeface="Public Sans" pitchFamily="34" charset="-122"/>
                <a:cs typeface="Public Sans" pitchFamily="34" charset="-120"/>
              </a:rPr>
              <a:t>MECHANICS</a:t>
            </a:r>
            <a:endParaRPr lang="en-US" sz="1300" dirty="0"/>
          </a:p>
        </p:txBody>
      </p:sp>
      <p:sp>
        <p:nvSpPr>
          <p:cNvPr id="3" name="Text 1"/>
          <p:cNvSpPr/>
          <p:nvPr>
            <p:ph type="title"/>
          </p:nvPr>
        </p:nvSpPr>
        <p:spPr>
          <a:xfrm>
            <a:off x="812720" y="1145398"/>
            <a:ext cx="10883529" cy="528266"/>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E8EDF1"/>
                </a:solidFill>
                <a:latin typeface="Oswald" pitchFamily="34" charset="0"/>
                <a:ea typeface="Oswald" pitchFamily="34" charset="-122"/>
                <a:cs typeface="Oswald" pitchFamily="34" charset="-120"/>
              </a:rPr>
              <a:t>FOUR RULES, COMBINED ROOM BY ROOM</a:t>
            </a:r>
            <a:endParaRPr lang="en-US" sz="3600" dirty="0"/>
          </a:p>
        </p:txBody>
      </p:sp>
      <p:sp>
        <p:nvSpPr>
          <p:cNvPr id="4" name="Shape 2"/>
          <p:cNvSpPr/>
          <p:nvPr/>
        </p:nvSpPr>
        <p:spPr>
          <a:xfrm>
            <a:off x="815895" y="1956220"/>
            <a:ext cx="2482893" cy="3312187"/>
          </a:xfrm>
          <a:prstGeom prst="roundRect">
            <a:avLst>
              <a:gd name="adj" fmla="val 3964"/>
            </a:avLst>
          </a:prstGeom>
          <a:solidFill>
            <a:srgbClr val="18212B"/>
          </a:solidFill>
          <a:ln w="6350">
            <a:solidFill>
              <a:srgbClr val="2A3644"/>
            </a:solidFill>
            <a:prstDash val="solid"/>
          </a:ln>
        </p:spPr>
      </p:sp>
      <p:pic>
        <p:nvPicPr>
          <p:cNvPr id="5" name="Image 0" descr="A curved magnetic ramp with blue chevrons">    </p:cNvPr>
          <p:cNvPicPr>
            <a:picLocks noChangeAspect="1"/>
          </p:cNvPicPr>
          <p:nvPr/>
        </p:nvPicPr>
        <p:blipFill>
          <a:blip r:embed="rId1"/>
          <a:srcRect l="22320" r="22320" t="0" b="0"/>
          <a:stretch/>
        </p:blipFill>
        <p:spPr>
          <a:xfrm>
            <a:off x="818516" y="1958842"/>
            <a:ext cx="2489152" cy="1650981"/>
          </a:xfrm>
          <a:custGeom>
            <a:avLst/>
            <a:gdLst/>
            <a:ahLst/>
            <a:cxnLst/>
            <a:rect l="l" t="t" r="r" b="b"/>
            <a:pathLst>
              <a:path w="2489152" h="1650981">
                <a:moveTo>
                  <a:pt x="0" y="95803"/>
                </a:moveTo>
                <a:arcTo wR="95803" hR="95803" stAng="10800000" swAng="5400000"/>
                <a:lnTo>
                  <a:pt x="2489152" y="0"/>
                </a:lnTo>
                <a:lnTo>
                  <a:pt x="2489152" y="1650981"/>
                </a:lnTo>
                <a:lnTo>
                  <a:pt x="0" y="1650981"/>
                </a:lnTo>
                <a:close/>
              </a:path>
            </a:pathLst>
          </a:custGeom>
        </p:spPr>
      </p:pic>
      <p:sp>
        <p:nvSpPr>
          <p:cNvPr id="6" name="Text 3"/>
          <p:cNvSpPr/>
          <p:nvPr/>
        </p:nvSpPr>
        <p:spPr>
          <a:xfrm>
            <a:off x="996316" y="3736808"/>
            <a:ext cx="2185711" cy="299658"/>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8EDF1"/>
                </a:solidFill>
                <a:latin typeface="Oswald" pitchFamily="34" charset="0"/>
                <a:ea typeface="Oswald" pitchFamily="34" charset="-122"/>
                <a:cs typeface="Oswald" pitchFamily="34" charset="-120"/>
              </a:rPr>
              <a:t>Curves turn you</a:t>
            </a:r>
            <a:endParaRPr lang="en-US" sz="1800" dirty="0"/>
          </a:p>
        </p:txBody>
      </p:sp>
      <p:sp>
        <p:nvSpPr>
          <p:cNvPr id="7" name="Text 4"/>
          <p:cNvSpPr/>
          <p:nvPr/>
        </p:nvSpPr>
        <p:spPr>
          <a:xfrm>
            <a:off x="996316" y="4138050"/>
            <a:ext cx="2185711" cy="7188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FD8"/>
                </a:solidFill>
                <a:latin typeface="Public Sans" pitchFamily="34" charset="0"/>
                <a:ea typeface="Public Sans" pitchFamily="34" charset="-122"/>
                <a:cs typeface="Public Sans" pitchFamily="34" charset="-120"/>
              </a:rPr>
              <a:t>Quarter-pipes carry you onto walls and ceilings. A sharp corner is a dead end.</a:t>
            </a:r>
            <a:endParaRPr lang="en-US" sz="1300" dirty="0"/>
          </a:p>
        </p:txBody>
      </p:sp>
      <p:sp>
        <p:nvSpPr>
          <p:cNvPr id="8" name="Shape 5"/>
          <p:cNvSpPr/>
          <p:nvPr/>
        </p:nvSpPr>
        <p:spPr>
          <a:xfrm>
            <a:off x="3508295" y="1956220"/>
            <a:ext cx="2482983" cy="3312187"/>
          </a:xfrm>
          <a:prstGeom prst="roundRect">
            <a:avLst>
              <a:gd name="adj" fmla="val 3964"/>
            </a:avLst>
          </a:prstGeom>
          <a:solidFill>
            <a:srgbClr val="18212B"/>
          </a:solidFill>
          <a:ln w="6350">
            <a:solidFill>
              <a:srgbClr val="2A3644"/>
            </a:solidFill>
            <a:prstDash val="solid"/>
          </a:ln>
        </p:spPr>
      </p:sp>
      <p:pic>
        <p:nvPicPr>
          <p:cNvPr id="9" name="Image 1" descr="The Gauntlet: an island with a sentry over a dark void, a second sentry beyond">    </p:cNvPr>
          <p:cNvPicPr>
            <a:picLocks noChangeAspect="1"/>
          </p:cNvPicPr>
          <p:nvPr/>
        </p:nvPicPr>
        <p:blipFill>
          <a:blip r:embed="rId2"/>
          <a:srcRect l="22320" r="22320" t="0" b="0"/>
          <a:stretch/>
        </p:blipFill>
        <p:spPr>
          <a:xfrm>
            <a:off x="3510916" y="1958842"/>
            <a:ext cx="2489152" cy="1650981"/>
          </a:xfrm>
          <a:custGeom>
            <a:avLst/>
            <a:gdLst/>
            <a:ahLst/>
            <a:cxnLst/>
            <a:rect l="l" t="t" r="r" b="b"/>
            <a:pathLst>
              <a:path w="2489152" h="1650981">
                <a:moveTo>
                  <a:pt x="0" y="95803"/>
                </a:moveTo>
                <a:arcTo wR="95803" hR="95803" stAng="10800000" swAng="5400000"/>
                <a:lnTo>
                  <a:pt x="2489152" y="0"/>
                </a:lnTo>
                <a:lnTo>
                  <a:pt x="2489152" y="1650981"/>
                </a:lnTo>
                <a:lnTo>
                  <a:pt x="0" y="1650981"/>
                </a:lnTo>
                <a:close/>
              </a:path>
            </a:pathLst>
          </a:custGeom>
        </p:spPr>
      </p:pic>
      <p:sp>
        <p:nvSpPr>
          <p:cNvPr id="10" name="Text 6"/>
          <p:cNvSpPr/>
          <p:nvPr/>
        </p:nvSpPr>
        <p:spPr>
          <a:xfrm>
            <a:off x="3688716" y="3736808"/>
            <a:ext cx="2185804" cy="299658"/>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8EDF1"/>
                </a:solidFill>
                <a:latin typeface="Oswald" pitchFamily="34" charset="0"/>
                <a:ea typeface="Oswald" pitchFamily="34" charset="-122"/>
                <a:cs typeface="Oswald" pitchFamily="34" charset="-120"/>
              </a:rPr>
              <a:t>Drops are the puzzle</a:t>
            </a:r>
            <a:endParaRPr lang="en-US" sz="1800" dirty="0"/>
          </a:p>
        </p:txBody>
      </p:sp>
      <p:sp>
        <p:nvSpPr>
          <p:cNvPr id="11" name="Text 7"/>
          <p:cNvSpPr/>
          <p:nvPr/>
        </p:nvSpPr>
        <p:spPr>
          <a:xfrm>
            <a:off x="3688716" y="4138050"/>
            <a:ext cx="2185804" cy="94997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FD8"/>
                </a:solidFill>
                <a:latin typeface="Public Sans" pitchFamily="34" charset="0"/>
                <a:ea typeface="Public Sans" pitchFamily="34" charset="-122"/>
                <a:cs typeface="Public Sans" pitchFamily="34" charset="-120"/>
              </a:rPr>
              <a:t>Boots off: fall and land upright. A marker shows where: blue safe, red void, gold sentry.</a:t>
            </a:r>
            <a:endParaRPr lang="en-US" sz="1300" dirty="0"/>
          </a:p>
        </p:txBody>
      </p:sp>
      <p:sp>
        <p:nvSpPr>
          <p:cNvPr id="12" name="Shape 8"/>
          <p:cNvSpPr/>
          <p:nvPr/>
        </p:nvSpPr>
        <p:spPr>
          <a:xfrm>
            <a:off x="6200785" y="1956220"/>
            <a:ext cx="2482893" cy="3312187"/>
          </a:xfrm>
          <a:prstGeom prst="roundRect">
            <a:avLst>
              <a:gd name="adj" fmla="val 3964"/>
            </a:avLst>
          </a:prstGeom>
          <a:solidFill>
            <a:srgbClr val="18212B"/>
          </a:solidFill>
          <a:ln w="6350">
            <a:solidFill>
              <a:srgbClr val="2A3644"/>
            </a:solidFill>
            <a:prstDash val="solid"/>
          </a:ln>
        </p:spPr>
      </p:sp>
      <p:pic>
        <p:nvPicPr>
          <p:cNvPr id="13" name="Image 2" descr="A sentry robot with its red firing line traced around the far landing">    </p:cNvPr>
          <p:cNvPicPr>
            <a:picLocks noChangeAspect="1"/>
          </p:cNvPicPr>
          <p:nvPr/>
        </p:nvPicPr>
        <p:blipFill>
          <a:blip r:embed="rId3"/>
          <a:srcRect l="22320" r="22320" t="0" b="0"/>
          <a:stretch/>
        </p:blipFill>
        <p:spPr>
          <a:xfrm>
            <a:off x="6203407" y="1958842"/>
            <a:ext cx="2489152" cy="1650981"/>
          </a:xfrm>
          <a:custGeom>
            <a:avLst/>
            <a:gdLst/>
            <a:ahLst/>
            <a:cxnLst/>
            <a:rect l="l" t="t" r="r" b="b"/>
            <a:pathLst>
              <a:path w="2489152" h="1650981">
                <a:moveTo>
                  <a:pt x="0" y="95803"/>
                </a:moveTo>
                <a:arcTo wR="95803" hR="95803" stAng="10800000" swAng="5400000"/>
                <a:lnTo>
                  <a:pt x="2489152" y="0"/>
                </a:lnTo>
                <a:lnTo>
                  <a:pt x="2489152" y="1650981"/>
                </a:lnTo>
                <a:lnTo>
                  <a:pt x="0" y="1650981"/>
                </a:lnTo>
                <a:close/>
              </a:path>
            </a:pathLst>
          </a:custGeom>
        </p:spPr>
      </p:pic>
      <p:sp>
        <p:nvSpPr>
          <p:cNvPr id="14" name="Text 9"/>
          <p:cNvSpPr/>
          <p:nvPr/>
        </p:nvSpPr>
        <p:spPr>
          <a:xfrm>
            <a:off x="6381207" y="3736808"/>
            <a:ext cx="2185711" cy="299658"/>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8EDF1"/>
                </a:solidFill>
                <a:latin typeface="Oswald" pitchFamily="34" charset="0"/>
                <a:ea typeface="Oswald" pitchFamily="34" charset="-122"/>
                <a:cs typeface="Oswald" pitchFamily="34" charset="-120"/>
              </a:rPr>
              <a:t>Sentries see a plane</a:t>
            </a:r>
            <a:endParaRPr lang="en-US" sz="1800" dirty="0"/>
          </a:p>
        </p:txBody>
      </p:sp>
      <p:sp>
        <p:nvSpPr>
          <p:cNvPr id="15" name="Text 10"/>
          <p:cNvSpPr/>
          <p:nvPr/>
        </p:nvSpPr>
        <p:spPr>
          <a:xfrm>
            <a:off x="6381207" y="4138050"/>
            <a:ext cx="2185711" cy="7188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FD8"/>
                </a:solidFill>
                <a:latin typeface="Public Sans" pitchFamily="34" charset="0"/>
                <a:ea typeface="Public Sans" pitchFamily="34" charset="-122"/>
                <a:cs typeface="Public Sans" pitchFamily="34" charset="-120"/>
              </a:rPr>
              <a:t>One hit kills and speed won’t save you. Drop on the dome to destroy one.</a:t>
            </a:r>
            <a:endParaRPr lang="en-US" sz="1300" dirty="0"/>
          </a:p>
        </p:txBody>
      </p:sp>
      <p:sp>
        <p:nvSpPr>
          <p:cNvPr id="16" name="Shape 11"/>
          <p:cNvSpPr/>
          <p:nvPr/>
        </p:nvSpPr>
        <p:spPr>
          <a:xfrm>
            <a:off x="8893185" y="1956220"/>
            <a:ext cx="2482893" cy="3312187"/>
          </a:xfrm>
          <a:prstGeom prst="roundRect">
            <a:avLst>
              <a:gd name="adj" fmla="val 3964"/>
            </a:avLst>
          </a:prstGeom>
          <a:solidFill>
            <a:srgbClr val="18212B"/>
          </a:solidFill>
          <a:ln w="6350">
            <a:solidFill>
              <a:srgbClr val="2A3644"/>
            </a:solidFill>
            <a:prstDash val="solid"/>
          </a:ln>
        </p:spPr>
      </p:sp>
      <p:sp>
        <p:nvSpPr>
          <p:cNvPr id="17" name="Shape 12"/>
          <p:cNvSpPr/>
          <p:nvPr/>
        </p:nvSpPr>
        <p:spPr>
          <a:xfrm>
            <a:off x="8895807" y="1958842"/>
            <a:ext cx="2489152" cy="1650981"/>
          </a:xfrm>
          <a:custGeom>
            <a:avLst/>
            <a:gdLst/>
            <a:ahLst/>
            <a:cxnLst/>
            <a:rect l="l" t="t" r="r" b="b"/>
            <a:pathLst>
              <a:path w="2489152" h="1650981">
                <a:moveTo>
                  <a:pt x="0" y="95803"/>
                </a:moveTo>
                <a:arcTo hR="95803" wR="95803" stAng="10800000" swAng="5400000"/>
                <a:lnTo>
                  <a:pt x="2489152" y="0"/>
                </a:lnTo>
                <a:lnTo>
                  <a:pt x="2489152" y="1650981"/>
                </a:lnTo>
                <a:lnTo>
                  <a:pt x="0" y="1650981"/>
                </a:lnTo>
                <a:close/>
              </a:path>
            </a:pathLst>
          </a:custGeom>
          <a:solidFill>
            <a:srgbClr val="223040"/>
          </a:solidFill>
          <a:ln/>
        </p:spPr>
      </p:sp>
      <p:pic>
        <p:nvPicPr>
          <p:cNvPr id="18" name="Image 3" descr="A dark moving-platform deck with glowing blue edge strips">    </p:cNvPr>
          <p:cNvPicPr>
            <a:picLocks noChangeAspect="1"/>
          </p:cNvPicPr>
          <p:nvPr/>
        </p:nvPicPr>
        <p:blipFill>
          <a:blip r:embed="rId4"/>
          <a:stretch>
            <a:fillRect/>
          </a:stretch>
        </p:blipFill>
        <p:spPr>
          <a:xfrm>
            <a:off x="9314892" y="1958842"/>
            <a:ext cx="1650981" cy="1650981"/>
          </a:xfrm>
          <a:prstGeom prst="rect">
            <a:avLst/>
          </a:prstGeom>
        </p:spPr>
      </p:pic>
      <p:sp>
        <p:nvSpPr>
          <p:cNvPr id="19" name="Text 13"/>
          <p:cNvSpPr/>
          <p:nvPr/>
        </p:nvSpPr>
        <p:spPr>
          <a:xfrm>
            <a:off x="9073607" y="3736808"/>
            <a:ext cx="2185711" cy="299658"/>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8EDF1"/>
                </a:solidFill>
                <a:latin typeface="Oswald" pitchFamily="34" charset="0"/>
                <a:ea typeface="Oswald" pitchFamily="34" charset="-122"/>
                <a:cs typeface="Oswald" pitchFamily="34" charset="-120"/>
              </a:rPr>
              <a:t>Timing is exact</a:t>
            </a:r>
            <a:endParaRPr lang="en-US" sz="1800" dirty="0"/>
          </a:p>
        </p:txBody>
      </p:sp>
      <p:sp>
        <p:nvSpPr>
          <p:cNvPr id="20" name="Text 14"/>
          <p:cNvSpPr/>
          <p:nvPr/>
        </p:nvSpPr>
        <p:spPr>
          <a:xfrm>
            <a:off x="9073607" y="4138050"/>
            <a:ext cx="2185711" cy="94997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FD8"/>
                </a:solidFill>
                <a:latin typeface="Public Sans" pitchFamily="34" charset="0"/>
                <a:ea typeface="Public Sans" pitchFamily="34" charset="-122"/>
                <a:cs typeface="Public Sans" pitchFamily="34" charset="-120"/>
              </a:rPr>
              <a:t>Platforms and shuttles run on a clock that rewinds on respawn, so every try is identical.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5C7F5"/>
                </a:solidFill>
                <a:latin typeface="Public Sans" pitchFamily="34" charset="0"/>
                <a:ea typeface="Public Sans" pitchFamily="34" charset="-122"/>
                <a:cs typeface="Public Sans" pitchFamily="34" charset="-120"/>
              </a:rPr>
              <a:t>THE CHAMBER</a:t>
            </a:r>
            <a:endParaRPr lang="en-US" sz="1300" dirty="0"/>
          </a:p>
        </p:txBody>
      </p:sp>
      <p:sp>
        <p:nvSpPr>
          <p:cNvPr id="3" name="Text 1"/>
          <p:cNvSpPr/>
          <p:nvPr>
            <p:ph type="title"/>
          </p:nvPr>
        </p:nvSpPr>
        <p:spPr>
          <a:xfrm>
            <a:off x="812720" y="1145398"/>
            <a:ext cx="10883529" cy="528266"/>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E8EDF1"/>
                </a:solidFill>
                <a:latin typeface="Oswald" pitchFamily="34" charset="0"/>
                <a:ea typeface="Oswald" pitchFamily="34" charset="-122"/>
                <a:cs typeface="Oswald" pitchFamily="34" charset="-120"/>
              </a:rPr>
              <a:t>FOURTEEN ROOMS, ONE IDEA AT A TIME</a:t>
            </a:r>
            <a:endParaRPr lang="en-US" sz="3600" dirty="0"/>
          </a:p>
        </p:txBody>
      </p:sp>
      <p:sp>
        <p:nvSpPr>
          <p:cNvPr id="4" name="Shape 2"/>
          <p:cNvSpPr/>
          <p:nvPr/>
        </p:nvSpPr>
        <p:spPr>
          <a:xfrm>
            <a:off x="815895" y="1956220"/>
            <a:ext cx="3380389" cy="2149218"/>
          </a:xfrm>
          <a:prstGeom prst="roundRect">
            <a:avLst>
              <a:gd name="adj" fmla="val 4580"/>
            </a:avLst>
          </a:prstGeom>
          <a:solidFill>
            <a:srgbClr val="18212B"/>
          </a:solidFill>
          <a:ln w="6350">
            <a:solidFill>
              <a:srgbClr val="2A3644"/>
            </a:solidFill>
            <a:prstDash val="solid"/>
          </a:ln>
        </p:spPr>
      </p:sp>
      <p:sp>
        <p:nvSpPr>
          <p:cNvPr id="5" name="Text 3"/>
          <p:cNvSpPr/>
          <p:nvPr/>
        </p:nvSpPr>
        <p:spPr>
          <a:xfrm>
            <a:off x="1021674" y="2162000"/>
            <a:ext cx="3057897" cy="330091"/>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8EDF1"/>
                </a:solidFill>
                <a:latin typeface="Oswald" pitchFamily="34" charset="0"/>
                <a:ea typeface="Oswald" pitchFamily="34" charset="-122"/>
                <a:cs typeface="Oswald" pitchFamily="34" charset="-120"/>
              </a:rPr>
              <a:t>Learn · rooms 1–10</a:t>
            </a:r>
            <a:endParaRPr lang="en-US" sz="2000" dirty="0"/>
          </a:p>
        </p:txBody>
      </p:sp>
      <p:sp>
        <p:nvSpPr>
          <p:cNvPr id="6" name="Text 4"/>
          <p:cNvSpPr/>
          <p:nvPr/>
        </p:nvSpPr>
        <p:spPr>
          <a:xfrm>
            <a:off x="1021674" y="2568223"/>
            <a:ext cx="3057897" cy="793014"/>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C3CFD8"/>
                </a:solidFill>
                <a:latin typeface="Public Sans" pitchFamily="34" charset="0"/>
                <a:ea typeface="Public Sans" pitchFamily="34" charset="-122"/>
                <a:cs typeface="Public Sans" pitchFamily="34" charset="-120"/>
              </a:rPr>
              <a:t>Walk · Boots · First Curve · Ceiling · Over the Edge · Island · Platforms · Shuttle · Sentry · Stomp</a:t>
            </a:r>
            <a:endParaRPr lang="en-US" sz="1300" dirty="0"/>
          </a:p>
        </p:txBody>
      </p:sp>
      <p:sp>
        <p:nvSpPr>
          <p:cNvPr id="7" name="Text 5"/>
          <p:cNvSpPr/>
          <p:nvPr/>
        </p:nvSpPr>
        <p:spPr>
          <a:xfrm>
            <a:off x="1021674" y="3437370"/>
            <a:ext cx="3057897"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BB9"/>
                </a:solidFill>
                <a:latin typeface="Public Sans" pitchFamily="34" charset="0"/>
                <a:ea typeface="Public Sans" pitchFamily="34" charset="-122"/>
                <a:cs typeface="Public Sans" pitchFamily="34" charset="-120"/>
              </a:rPr>
              <a:t>Each room introduces one idea, with a checkpoint after it.</a:t>
            </a:r>
            <a:endParaRPr lang="en-US" sz="1300" dirty="0"/>
          </a:p>
        </p:txBody>
      </p:sp>
      <p:sp>
        <p:nvSpPr>
          <p:cNvPr id="8" name="Shape 6"/>
          <p:cNvSpPr/>
          <p:nvPr/>
        </p:nvSpPr>
        <p:spPr>
          <a:xfrm>
            <a:off x="4405792" y="1956220"/>
            <a:ext cx="3380389" cy="2149218"/>
          </a:xfrm>
          <a:prstGeom prst="roundRect">
            <a:avLst>
              <a:gd name="adj" fmla="val 4580"/>
            </a:avLst>
          </a:prstGeom>
          <a:solidFill>
            <a:srgbClr val="18212B"/>
          </a:solidFill>
          <a:ln w="6350">
            <a:solidFill>
              <a:srgbClr val="2A3644"/>
            </a:solidFill>
            <a:prstDash val="solid"/>
          </a:ln>
        </p:spPr>
      </p:sp>
      <p:sp>
        <p:nvSpPr>
          <p:cNvPr id="9" name="Text 7"/>
          <p:cNvSpPr/>
          <p:nvPr/>
        </p:nvSpPr>
        <p:spPr>
          <a:xfrm>
            <a:off x="4611570" y="2162000"/>
            <a:ext cx="3057897" cy="330091"/>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8EDF1"/>
                </a:solidFill>
                <a:latin typeface="Oswald" pitchFamily="34" charset="0"/>
                <a:ea typeface="Oswald" pitchFamily="34" charset="-122"/>
                <a:cs typeface="Oswald" pitchFamily="34" charset="-120"/>
              </a:rPr>
              <a:t>Combine · rooms 11–13</a:t>
            </a:r>
            <a:endParaRPr lang="en-US" sz="2000" dirty="0"/>
          </a:p>
        </p:txBody>
      </p:sp>
      <p:sp>
        <p:nvSpPr>
          <p:cNvPr id="10" name="Text 8"/>
          <p:cNvSpPr/>
          <p:nvPr/>
        </p:nvSpPr>
        <p:spPr>
          <a:xfrm>
            <a:off x="4611570" y="2568223"/>
            <a:ext cx="3057897" cy="28127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C3CFD8"/>
                </a:solidFill>
                <a:latin typeface="Public Sans" pitchFamily="34" charset="0"/>
                <a:ea typeface="Public Sans" pitchFamily="34" charset="-122"/>
                <a:cs typeface="Public Sans" pitchFamily="34" charset="-120"/>
              </a:rPr>
              <a:t>Finale · Corkscrew · Diving Board</a:t>
            </a:r>
            <a:endParaRPr lang="en-US" sz="1300" dirty="0"/>
          </a:p>
        </p:txBody>
      </p:sp>
      <p:sp>
        <p:nvSpPr>
          <p:cNvPr id="11" name="Text 9"/>
          <p:cNvSpPr/>
          <p:nvPr/>
        </p:nvSpPr>
        <p:spPr>
          <a:xfrm>
            <a:off x="4611570" y="2925628"/>
            <a:ext cx="3057897" cy="7188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BB9"/>
                </a:solidFill>
                <a:latin typeface="Public Sans" pitchFamily="34" charset="0"/>
                <a:ea typeface="Public Sans" pitchFamily="34" charset="-122"/>
                <a:cs typeface="Public Sans" pitchFamily="34" charset="-120"/>
              </a:rPr>
              <a:t>Floor → wall → ceiling → wall, then a drop from a wall onto a sentry; a jump onto a ferry.</a:t>
            </a:r>
            <a:endParaRPr lang="en-US" sz="1300" dirty="0"/>
          </a:p>
        </p:txBody>
      </p:sp>
      <p:sp>
        <p:nvSpPr>
          <p:cNvPr id="12" name="Shape 10"/>
          <p:cNvSpPr/>
          <p:nvPr/>
        </p:nvSpPr>
        <p:spPr>
          <a:xfrm>
            <a:off x="7995689" y="1956220"/>
            <a:ext cx="3380389" cy="2149218"/>
          </a:xfrm>
          <a:prstGeom prst="roundRect">
            <a:avLst>
              <a:gd name="adj" fmla="val 4580"/>
            </a:avLst>
          </a:prstGeom>
          <a:solidFill>
            <a:srgbClr val="18212B"/>
          </a:solidFill>
          <a:ln w="6350">
            <a:solidFill>
              <a:srgbClr val="2A3644"/>
            </a:solidFill>
            <a:prstDash val="solid"/>
          </a:ln>
        </p:spPr>
      </p:sp>
      <p:sp>
        <p:nvSpPr>
          <p:cNvPr id="13" name="Text 11"/>
          <p:cNvSpPr/>
          <p:nvPr/>
        </p:nvSpPr>
        <p:spPr>
          <a:xfrm>
            <a:off x="8201468" y="2162000"/>
            <a:ext cx="3057897" cy="330091"/>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8EDF1"/>
                </a:solidFill>
                <a:latin typeface="Oswald" pitchFamily="34" charset="0"/>
                <a:ea typeface="Oswald" pitchFamily="34" charset="-122"/>
                <a:cs typeface="Oswald" pitchFamily="34" charset="-120"/>
              </a:rPr>
              <a:t>Challenge · room 14</a:t>
            </a:r>
            <a:endParaRPr lang="en-US" sz="2000" dirty="0"/>
          </a:p>
        </p:txBody>
      </p:sp>
      <p:sp>
        <p:nvSpPr>
          <p:cNvPr id="14" name="Text 12"/>
          <p:cNvSpPr/>
          <p:nvPr/>
        </p:nvSpPr>
        <p:spPr>
          <a:xfrm>
            <a:off x="8201468" y="2568223"/>
            <a:ext cx="3057897" cy="28127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C3CFD8"/>
                </a:solidFill>
                <a:latin typeface="Public Sans" pitchFamily="34" charset="0"/>
                <a:ea typeface="Public Sans" pitchFamily="34" charset="-122"/>
                <a:cs typeface="Public Sans" pitchFamily="34" charset="-120"/>
              </a:rPr>
              <a:t>Gauntlet</a:t>
            </a:r>
            <a:endParaRPr lang="en-US" sz="1300" dirty="0"/>
          </a:p>
        </p:txBody>
      </p:sp>
      <p:sp>
        <p:nvSpPr>
          <p:cNvPr id="15" name="Text 13"/>
          <p:cNvSpPr/>
          <p:nvPr/>
        </p:nvSpPr>
        <p:spPr>
          <a:xfrm>
            <a:off x="8201468" y="2925628"/>
            <a:ext cx="3057897" cy="7188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BB9"/>
                </a:solidFill>
                <a:latin typeface="Public Sans" pitchFamily="34" charset="0"/>
                <a:ea typeface="Public Sans" pitchFamily="34" charset="-122"/>
                <a:cs typeface="Public Sans" pitchFamily="34" charset="-120"/>
              </a:rPr>
              <a:t>Two ceiling shuttles meet for 2 s; drop onto an island sentry; a running jump onto a second sentry.</a:t>
            </a:r>
            <a:endParaRPr lang="en-US" sz="1300" dirty="0"/>
          </a:p>
        </p:txBody>
      </p:sp>
      <p:sp>
        <p:nvSpPr>
          <p:cNvPr id="16" name="Text 14"/>
          <p:cNvSpPr/>
          <p:nvPr/>
        </p:nvSpPr>
        <p:spPr>
          <a:xfrm>
            <a:off x="812720" y="4413396"/>
            <a:ext cx="10883529"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FD8"/>
                </a:solidFill>
                <a:latin typeface="Public Sans" pitchFamily="34" charset="0"/>
                <a:ea typeface="Public Sans" pitchFamily="34" charset="-122"/>
                <a:cs typeface="Public Sans" pitchFamily="34" charset="-120"/>
              </a:rPr>
              <a:t>Every room is proved solvable: a scripted run finishes the whole chamber with zero deaths, in about 225 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0B6C9E"/>
                </a:solidFill>
                <a:latin typeface="Public Sans" pitchFamily="34" charset="0"/>
                <a:ea typeface="Public Sans" pitchFamily="34" charset="-122"/>
                <a:cs typeface="Public Sans" pitchFamily="34" charset="-120"/>
              </a:rPr>
              <a:t>HOW IT WAS BUILT</a:t>
            </a:r>
            <a:endParaRPr lang="en-US" sz="1300" dirty="0"/>
          </a:p>
        </p:txBody>
      </p:sp>
      <p:sp>
        <p:nvSpPr>
          <p:cNvPr id="3" name="Text 1"/>
          <p:cNvSpPr/>
          <p:nvPr>
            <p:ph type="title"/>
          </p:nvPr>
        </p:nvSpPr>
        <p:spPr>
          <a:xfrm>
            <a:off x="812720" y="1145397"/>
            <a:ext cx="10883529" cy="528266"/>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0E1319"/>
                </a:solidFill>
                <a:latin typeface="Oswald" pitchFamily="34" charset="0"/>
                <a:ea typeface="Oswald" pitchFamily="34" charset="-122"/>
                <a:cs typeface="Oswald" pitchFamily="34" charset="-120"/>
              </a:rPr>
              <a:t>BY THE NUMBERS</a:t>
            </a:r>
            <a:endParaRPr lang="en-US" sz="3600" dirty="0"/>
          </a:p>
        </p:txBody>
      </p:sp>
      <p:sp>
        <p:nvSpPr>
          <p:cNvPr id="4" name="Shape 2"/>
          <p:cNvSpPr/>
          <p:nvPr/>
        </p:nvSpPr>
        <p:spPr>
          <a:xfrm>
            <a:off x="815895" y="2007031"/>
            <a:ext cx="3380389" cy="1551883"/>
          </a:xfrm>
          <a:prstGeom prst="roundRect">
            <a:avLst>
              <a:gd name="adj" fmla="val 6342"/>
            </a:avLst>
          </a:prstGeom>
          <a:solidFill>
            <a:srgbClr val="FBFCFD"/>
          </a:solidFill>
          <a:ln w="6350">
            <a:solidFill>
              <a:srgbClr val="D5DDE3"/>
            </a:solidFill>
            <a:prstDash val="solid"/>
          </a:ln>
        </p:spPr>
      </p:sp>
      <p:sp>
        <p:nvSpPr>
          <p:cNvPr id="5" name="Text 3"/>
          <p:cNvSpPr/>
          <p:nvPr/>
        </p:nvSpPr>
        <p:spPr>
          <a:xfrm>
            <a:off x="1047034" y="2238173"/>
            <a:ext cx="3005654" cy="584241"/>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0B6C9E"/>
                </a:solidFill>
                <a:latin typeface="Oswald" pitchFamily="34" charset="0"/>
                <a:ea typeface="Oswald" pitchFamily="34" charset="-122"/>
                <a:cs typeface="Oswald" pitchFamily="34" charset="-120"/>
              </a:rPr>
              <a:t>170</a:t>
            </a:r>
            <a:endParaRPr lang="en-US" sz="4400" dirty="0"/>
          </a:p>
        </p:txBody>
      </p:sp>
      <p:sp>
        <p:nvSpPr>
          <p:cNvPr id="6" name="Text 4"/>
          <p:cNvSpPr/>
          <p:nvPr/>
        </p:nvSpPr>
        <p:spPr>
          <a:xfrm>
            <a:off x="1047034" y="2847733"/>
            <a:ext cx="3005654" cy="50544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866"/>
                </a:solidFill>
                <a:latin typeface="Public Sans" pitchFamily="34" charset="0"/>
                <a:ea typeface="Public Sans" pitchFamily="34" charset="-122"/>
                <a:cs typeface="Public Sans" pitchFamily="34" charset="-120"/>
              </a:rPr>
              <a:t>prompts to the coding agent, all logged</a:t>
            </a:r>
            <a:endParaRPr lang="en-US" sz="1400" dirty="0"/>
          </a:p>
        </p:txBody>
      </p:sp>
      <p:sp>
        <p:nvSpPr>
          <p:cNvPr id="7" name="Shape 5"/>
          <p:cNvSpPr/>
          <p:nvPr/>
        </p:nvSpPr>
        <p:spPr>
          <a:xfrm>
            <a:off x="4405792" y="2007031"/>
            <a:ext cx="3380389" cy="1551883"/>
          </a:xfrm>
          <a:prstGeom prst="roundRect">
            <a:avLst>
              <a:gd name="adj" fmla="val 6342"/>
            </a:avLst>
          </a:prstGeom>
          <a:solidFill>
            <a:srgbClr val="FBFCFD"/>
          </a:solidFill>
          <a:ln w="6350">
            <a:solidFill>
              <a:srgbClr val="D5DDE3"/>
            </a:solidFill>
            <a:prstDash val="solid"/>
          </a:ln>
        </p:spPr>
      </p:sp>
      <p:sp>
        <p:nvSpPr>
          <p:cNvPr id="8" name="Text 6"/>
          <p:cNvSpPr/>
          <p:nvPr/>
        </p:nvSpPr>
        <p:spPr>
          <a:xfrm>
            <a:off x="4636931" y="2238173"/>
            <a:ext cx="3005654" cy="584241"/>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0B6C9E"/>
                </a:solidFill>
                <a:latin typeface="Oswald" pitchFamily="34" charset="0"/>
                <a:ea typeface="Oswald" pitchFamily="34" charset="-122"/>
                <a:cs typeface="Oswald" pitchFamily="34" charset="-120"/>
              </a:rPr>
              <a:t>344</a:t>
            </a:r>
            <a:endParaRPr lang="en-US" sz="4400" dirty="0"/>
          </a:p>
        </p:txBody>
      </p:sp>
      <p:sp>
        <p:nvSpPr>
          <p:cNvPr id="9" name="Text 7"/>
          <p:cNvSpPr/>
          <p:nvPr/>
        </p:nvSpPr>
        <p:spPr>
          <a:xfrm>
            <a:off x="4636931" y="2847733"/>
            <a:ext cx="3005654" cy="50544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866"/>
                </a:solidFill>
                <a:latin typeface="Public Sans" pitchFamily="34" charset="0"/>
                <a:ea typeface="Public Sans" pitchFamily="34" charset="-122"/>
                <a:cs typeface="Public Sans" pitchFamily="34" charset="-120"/>
              </a:rPr>
              <a:t>automated tests (62 EditMode, 282 PlayMode)</a:t>
            </a:r>
            <a:endParaRPr lang="en-US" sz="1400" dirty="0"/>
          </a:p>
        </p:txBody>
      </p:sp>
      <p:sp>
        <p:nvSpPr>
          <p:cNvPr id="10" name="Shape 8"/>
          <p:cNvSpPr/>
          <p:nvPr/>
        </p:nvSpPr>
        <p:spPr>
          <a:xfrm>
            <a:off x="7995689" y="2007031"/>
            <a:ext cx="3380389" cy="1551883"/>
          </a:xfrm>
          <a:prstGeom prst="roundRect">
            <a:avLst>
              <a:gd name="adj" fmla="val 6342"/>
            </a:avLst>
          </a:prstGeom>
          <a:solidFill>
            <a:srgbClr val="FBFCFD"/>
          </a:solidFill>
          <a:ln w="6350">
            <a:solidFill>
              <a:srgbClr val="D5DDE3"/>
            </a:solidFill>
            <a:prstDash val="solid"/>
          </a:ln>
        </p:spPr>
      </p:sp>
      <p:sp>
        <p:nvSpPr>
          <p:cNvPr id="11" name="Text 9"/>
          <p:cNvSpPr/>
          <p:nvPr/>
        </p:nvSpPr>
        <p:spPr>
          <a:xfrm>
            <a:off x="8226828" y="2238173"/>
            <a:ext cx="3005654" cy="584241"/>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0B6C9E"/>
                </a:solidFill>
                <a:latin typeface="Oswald" pitchFamily="34" charset="0"/>
                <a:ea typeface="Oswald" pitchFamily="34" charset="-122"/>
                <a:cs typeface="Oswald" pitchFamily="34" charset="-120"/>
              </a:rPr>
              <a:t>17 → 6</a:t>
            </a:r>
            <a:endParaRPr lang="en-US" sz="4400" dirty="0"/>
          </a:p>
        </p:txBody>
      </p:sp>
      <p:sp>
        <p:nvSpPr>
          <p:cNvPr id="12" name="Text 10"/>
          <p:cNvSpPr/>
          <p:nvPr/>
        </p:nvSpPr>
        <p:spPr>
          <a:xfrm>
            <a:off x="8226828" y="2847733"/>
            <a:ext cx="3005654" cy="50544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866"/>
                </a:solidFill>
                <a:latin typeface="Public Sans" pitchFamily="34" charset="0"/>
                <a:ea typeface="Public Sans" pitchFamily="34" charset="-122"/>
                <a:cs typeface="Public Sans" pitchFamily="34" charset="-120"/>
              </a:rPr>
              <a:t>concept images, turned into six Tripo models</a:t>
            </a:r>
            <a:endParaRPr lang="en-US" sz="1400" dirty="0"/>
          </a:p>
        </p:txBody>
      </p:sp>
      <p:sp>
        <p:nvSpPr>
          <p:cNvPr id="13" name="Shape 11"/>
          <p:cNvSpPr/>
          <p:nvPr/>
        </p:nvSpPr>
        <p:spPr>
          <a:xfrm>
            <a:off x="815895" y="3768424"/>
            <a:ext cx="3380389" cy="1551883"/>
          </a:xfrm>
          <a:prstGeom prst="roundRect">
            <a:avLst>
              <a:gd name="adj" fmla="val 6342"/>
            </a:avLst>
          </a:prstGeom>
          <a:solidFill>
            <a:srgbClr val="FBFCFD"/>
          </a:solidFill>
          <a:ln w="6350">
            <a:solidFill>
              <a:srgbClr val="D5DDE3"/>
            </a:solidFill>
            <a:prstDash val="solid"/>
          </a:ln>
        </p:spPr>
      </p:sp>
      <p:sp>
        <p:nvSpPr>
          <p:cNvPr id="14" name="Text 12"/>
          <p:cNvSpPr/>
          <p:nvPr/>
        </p:nvSpPr>
        <p:spPr>
          <a:xfrm>
            <a:off x="1047034" y="3999564"/>
            <a:ext cx="3005654" cy="584241"/>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0B6C9E"/>
                </a:solidFill>
                <a:latin typeface="Oswald" pitchFamily="34" charset="0"/>
                <a:ea typeface="Oswald" pitchFamily="34" charset="-122"/>
                <a:cs typeface="Oswald" pitchFamily="34" charset="-120"/>
              </a:rPr>
              <a:t>≈750</a:t>
            </a:r>
            <a:endParaRPr lang="en-US" sz="4400" dirty="0"/>
          </a:p>
        </p:txBody>
      </p:sp>
      <p:sp>
        <p:nvSpPr>
          <p:cNvPr id="15" name="Text 13"/>
          <p:cNvSpPr/>
          <p:nvPr/>
        </p:nvSpPr>
        <p:spPr>
          <a:xfrm>
            <a:off x="1047034" y="4609126"/>
            <a:ext cx="3005654" cy="50544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866"/>
                </a:solidFill>
                <a:latin typeface="Public Sans" pitchFamily="34" charset="0"/>
                <a:ea typeface="Public Sans" pitchFamily="34" charset="-122"/>
                <a:cs typeface="Public Sans" pitchFamily="34" charset="-120"/>
              </a:rPr>
              <a:t>Tripo credits, including drafts and retries</a:t>
            </a:r>
            <a:endParaRPr lang="en-US" sz="1400" dirty="0"/>
          </a:p>
        </p:txBody>
      </p:sp>
      <p:sp>
        <p:nvSpPr>
          <p:cNvPr id="16" name="Shape 14"/>
          <p:cNvSpPr/>
          <p:nvPr/>
        </p:nvSpPr>
        <p:spPr>
          <a:xfrm>
            <a:off x="4405792" y="3768424"/>
            <a:ext cx="3380389" cy="1551883"/>
          </a:xfrm>
          <a:prstGeom prst="roundRect">
            <a:avLst>
              <a:gd name="adj" fmla="val 6342"/>
            </a:avLst>
          </a:prstGeom>
          <a:solidFill>
            <a:srgbClr val="FBFCFD"/>
          </a:solidFill>
          <a:ln w="6350">
            <a:solidFill>
              <a:srgbClr val="D5DDE3"/>
            </a:solidFill>
            <a:prstDash val="solid"/>
          </a:ln>
        </p:spPr>
      </p:sp>
      <p:sp>
        <p:nvSpPr>
          <p:cNvPr id="17" name="Text 15"/>
          <p:cNvSpPr/>
          <p:nvPr/>
        </p:nvSpPr>
        <p:spPr>
          <a:xfrm>
            <a:off x="4636931" y="3999564"/>
            <a:ext cx="3005654" cy="584241"/>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0B6C9E"/>
                </a:solidFill>
                <a:latin typeface="Oswald" pitchFamily="34" charset="0"/>
                <a:ea typeface="Oswald" pitchFamily="34" charset="-122"/>
                <a:cs typeface="Oswald" pitchFamily="34" charset="-120"/>
              </a:rPr>
              <a:t>31 → 13</a:t>
            </a:r>
            <a:endParaRPr lang="en-US" sz="4400" dirty="0"/>
          </a:p>
        </p:txBody>
      </p:sp>
      <p:sp>
        <p:nvSpPr>
          <p:cNvPr id="18" name="Text 16"/>
          <p:cNvSpPr/>
          <p:nvPr/>
        </p:nvSpPr>
        <p:spPr>
          <a:xfrm>
            <a:off x="4636931" y="4609126"/>
            <a:ext cx="3005654" cy="50544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866"/>
                </a:solidFill>
                <a:latin typeface="Public Sans" pitchFamily="34" charset="0"/>
                <a:ea typeface="Public Sans" pitchFamily="34" charset="-122"/>
                <a:cs typeface="Public Sans" pitchFamily="34" charset="-120"/>
              </a:rPr>
              <a:t>sound generations, narrowed to the 13 in the game</a:t>
            </a:r>
            <a:endParaRPr lang="en-US" sz="1400" dirty="0"/>
          </a:p>
        </p:txBody>
      </p:sp>
      <p:sp>
        <p:nvSpPr>
          <p:cNvPr id="19" name="Shape 17"/>
          <p:cNvSpPr/>
          <p:nvPr/>
        </p:nvSpPr>
        <p:spPr>
          <a:xfrm>
            <a:off x="7995689" y="3768424"/>
            <a:ext cx="3380389" cy="1551883"/>
          </a:xfrm>
          <a:prstGeom prst="roundRect">
            <a:avLst>
              <a:gd name="adj" fmla="val 6342"/>
            </a:avLst>
          </a:prstGeom>
          <a:solidFill>
            <a:srgbClr val="FBFCFD"/>
          </a:solidFill>
          <a:ln w="6350">
            <a:solidFill>
              <a:srgbClr val="D5DDE3"/>
            </a:solidFill>
            <a:prstDash val="solid"/>
          </a:ln>
        </p:spPr>
      </p:sp>
      <p:sp>
        <p:nvSpPr>
          <p:cNvPr id="20" name="Text 18"/>
          <p:cNvSpPr/>
          <p:nvPr/>
        </p:nvSpPr>
        <p:spPr>
          <a:xfrm>
            <a:off x="8226828" y="3999564"/>
            <a:ext cx="3005654" cy="584241"/>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0B6C9E"/>
                </a:solidFill>
                <a:latin typeface="Oswald" pitchFamily="34" charset="0"/>
                <a:ea typeface="Oswald" pitchFamily="34" charset="-122"/>
                <a:cs typeface="Oswald" pitchFamily="34" charset="-120"/>
              </a:rPr>
              <a:t>14</a:t>
            </a:r>
            <a:endParaRPr lang="en-US" sz="4400" dirty="0"/>
          </a:p>
        </p:txBody>
      </p:sp>
      <p:sp>
        <p:nvSpPr>
          <p:cNvPr id="21" name="Text 19"/>
          <p:cNvSpPr/>
          <p:nvPr/>
        </p:nvSpPr>
        <p:spPr>
          <a:xfrm>
            <a:off x="8226828" y="4609126"/>
            <a:ext cx="3005654" cy="50544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866"/>
                </a:solidFill>
                <a:latin typeface="Public Sans" pitchFamily="34" charset="0"/>
                <a:ea typeface="Public Sans" pitchFamily="34" charset="-122"/>
                <a:cs typeface="Public Sans" pitchFamily="34" charset="-120"/>
              </a:rPr>
              <a:t>rooms, proved solvable by a scripted run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5C7F5"/>
                </a:solidFill>
                <a:latin typeface="Public Sans" pitchFamily="34" charset="0"/>
                <a:ea typeface="Public Sans" pitchFamily="34" charset="-122"/>
                <a:cs typeface="Public Sans" pitchFamily="34" charset="-120"/>
              </a:rPr>
              <a:t>TOOLCHAIN</a:t>
            </a:r>
            <a:endParaRPr lang="en-US" sz="1300" dirty="0"/>
          </a:p>
        </p:txBody>
      </p:sp>
      <p:sp>
        <p:nvSpPr>
          <p:cNvPr id="3" name="Text 1"/>
          <p:cNvSpPr/>
          <p:nvPr>
            <p:ph type="title"/>
          </p:nvPr>
        </p:nvSpPr>
        <p:spPr>
          <a:xfrm>
            <a:off x="812720" y="1145397"/>
            <a:ext cx="10883529" cy="528266"/>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E8EDF1"/>
                </a:solidFill>
                <a:latin typeface="Oswald" pitchFamily="34" charset="0"/>
                <a:ea typeface="Oswald" pitchFamily="34" charset="-122"/>
                <a:cs typeface="Oswald" pitchFamily="34" charset="-120"/>
              </a:rPr>
              <a:t>ONE AGENT DRIVING THE ENGINE</a:t>
            </a:r>
            <a:endParaRPr lang="en-US" sz="3600" dirty="0"/>
          </a:p>
        </p:txBody>
      </p:sp>
      <p:sp>
        <p:nvSpPr>
          <p:cNvPr id="4" name="Shape 2"/>
          <p:cNvSpPr/>
          <p:nvPr/>
        </p:nvSpPr>
        <p:spPr>
          <a:xfrm>
            <a:off x="815895" y="1956222"/>
            <a:ext cx="1985008" cy="2472567"/>
          </a:xfrm>
          <a:prstGeom prst="roundRect">
            <a:avLst>
              <a:gd name="adj" fmla="val 4958"/>
            </a:avLst>
          </a:prstGeom>
          <a:solidFill>
            <a:srgbClr val="18212B"/>
          </a:solidFill>
          <a:ln w="6350">
            <a:solidFill>
              <a:srgbClr val="2A3644"/>
            </a:solidFill>
            <a:prstDash val="solid"/>
          </a:ln>
        </p:spPr>
      </p:sp>
      <p:pic>
        <p:nvPicPr>
          <p:cNvPr id="5" name="Image 0" descr="Code">    </p:cNvPr>
          <p:cNvPicPr>
            <a:picLocks noChangeAspect="1"/>
          </p:cNvPicPr>
          <p:nvPr/>
        </p:nvPicPr>
        <p:blipFill>
          <a:blip r:embed="rId1"/>
          <a:srcRect l="0" r="0" t="0" b="0"/>
          <a:stretch/>
        </p:blipFill>
        <p:spPr>
          <a:xfrm>
            <a:off x="1021674" y="2161998"/>
            <a:ext cx="355593" cy="355593"/>
          </a:xfrm>
          <a:prstGeom prst="rect">
            <a:avLst/>
          </a:prstGeom>
        </p:spPr>
      </p:pic>
      <p:sp>
        <p:nvSpPr>
          <p:cNvPr id="6" name="Text 3"/>
          <p:cNvSpPr/>
          <p:nvPr/>
        </p:nvSpPr>
        <p:spPr>
          <a:xfrm>
            <a:off x="1021674" y="2619127"/>
            <a:ext cx="1624250" cy="288245"/>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E8EDF1"/>
                </a:solidFill>
                <a:latin typeface="Oswald" pitchFamily="34" charset="0"/>
                <a:ea typeface="Oswald" pitchFamily="34" charset="-122"/>
                <a:cs typeface="Oswald" pitchFamily="34" charset="-120"/>
              </a:rPr>
              <a:t>Claude Code</a:t>
            </a:r>
            <a:endParaRPr lang="en-US" sz="1800" dirty="0"/>
          </a:p>
        </p:txBody>
      </p:sp>
      <p:sp>
        <p:nvSpPr>
          <p:cNvPr id="7" name="Text 4"/>
          <p:cNvSpPr/>
          <p:nvPr/>
        </p:nvSpPr>
        <p:spPr>
          <a:xfrm>
            <a:off x="1021674" y="2983505"/>
            <a:ext cx="1624250"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BB9"/>
                </a:solidFill>
                <a:latin typeface="Public Sans" pitchFamily="34" charset="0"/>
                <a:ea typeface="Public Sans" pitchFamily="34" charset="-122"/>
                <a:cs typeface="Public Sans" pitchFamily="34" charset="-120"/>
              </a:rPr>
              <a:t>Claude Opus 5.5</a:t>
            </a:r>
            <a:endParaRPr lang="en-US" sz="1200" dirty="0"/>
          </a:p>
        </p:txBody>
      </p:sp>
      <p:sp>
        <p:nvSpPr>
          <p:cNvPr id="8" name="Text 5"/>
          <p:cNvSpPr/>
          <p:nvPr/>
        </p:nvSpPr>
        <p:spPr>
          <a:xfrm>
            <a:off x="1021674" y="3298431"/>
            <a:ext cx="1624250" cy="94997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FD8"/>
                </a:solidFill>
                <a:latin typeface="Public Sans" pitchFamily="34" charset="0"/>
                <a:ea typeface="Public Sans" pitchFamily="34" charset="-122"/>
                <a:cs typeface="Public Sans" pitchFamily="34" charset="-120"/>
              </a:rPr>
              <a:t>All code and tests, level building, shader, audio wiring, UI, builds</a:t>
            </a:r>
            <a:endParaRPr lang="en-US" sz="1300" dirty="0"/>
          </a:p>
        </p:txBody>
      </p:sp>
      <p:sp>
        <p:nvSpPr>
          <p:cNvPr id="9" name="Shape 6"/>
          <p:cNvSpPr/>
          <p:nvPr/>
        </p:nvSpPr>
        <p:spPr>
          <a:xfrm>
            <a:off x="2959598" y="1956222"/>
            <a:ext cx="1985099" cy="2472567"/>
          </a:xfrm>
          <a:prstGeom prst="roundRect">
            <a:avLst>
              <a:gd name="adj" fmla="val 4958"/>
            </a:avLst>
          </a:prstGeom>
          <a:solidFill>
            <a:srgbClr val="18212B"/>
          </a:solidFill>
          <a:ln w="6350">
            <a:solidFill>
              <a:srgbClr val="2A3644"/>
            </a:solidFill>
            <a:prstDash val="solid"/>
          </a:ln>
        </p:spPr>
      </p:sp>
      <p:pic>
        <p:nvPicPr>
          <p:cNvPr id="10" name="Image 1" descr="Settings">    </p:cNvPr>
          <p:cNvPicPr>
            <a:picLocks noChangeAspect="1"/>
          </p:cNvPicPr>
          <p:nvPr/>
        </p:nvPicPr>
        <p:blipFill>
          <a:blip r:embed="rId2"/>
          <a:srcRect l="0" r="0" t="0" b="0"/>
          <a:stretch/>
        </p:blipFill>
        <p:spPr>
          <a:xfrm>
            <a:off x="3165377" y="2161998"/>
            <a:ext cx="355593" cy="355593"/>
          </a:xfrm>
          <a:prstGeom prst="rect">
            <a:avLst/>
          </a:prstGeom>
        </p:spPr>
      </p:pic>
      <p:sp>
        <p:nvSpPr>
          <p:cNvPr id="11" name="Text 7"/>
          <p:cNvSpPr/>
          <p:nvPr/>
        </p:nvSpPr>
        <p:spPr>
          <a:xfrm>
            <a:off x="3165377" y="2619127"/>
            <a:ext cx="1624340" cy="288245"/>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E8EDF1"/>
                </a:solidFill>
                <a:latin typeface="Oswald" pitchFamily="34" charset="0"/>
                <a:ea typeface="Oswald" pitchFamily="34" charset="-122"/>
                <a:cs typeface="Oswald" pitchFamily="34" charset="-120"/>
              </a:rPr>
              <a:t>Unity 6</a:t>
            </a:r>
            <a:endParaRPr lang="en-US" sz="1800" dirty="0"/>
          </a:p>
        </p:txBody>
      </p:sp>
      <p:sp>
        <p:nvSpPr>
          <p:cNvPr id="12" name="Text 8"/>
          <p:cNvSpPr/>
          <p:nvPr/>
        </p:nvSpPr>
        <p:spPr>
          <a:xfrm>
            <a:off x="3165377" y="2983505"/>
            <a:ext cx="1624340"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BB9"/>
                </a:solidFill>
                <a:latin typeface="Public Sans" pitchFamily="34" charset="0"/>
                <a:ea typeface="Public Sans" pitchFamily="34" charset="-122"/>
                <a:cs typeface="Public Sans" pitchFamily="34" charset="-120"/>
              </a:rPr>
              <a:t>URP · CLI · Pipeline</a:t>
            </a:r>
            <a:endParaRPr lang="en-US" sz="1200" dirty="0"/>
          </a:p>
        </p:txBody>
      </p:sp>
      <p:sp>
        <p:nvSpPr>
          <p:cNvPr id="13" name="Text 9"/>
          <p:cNvSpPr/>
          <p:nvPr/>
        </p:nvSpPr>
        <p:spPr>
          <a:xfrm>
            <a:off x="3165377" y="3298431"/>
            <a:ext cx="1624340" cy="94997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FD8"/>
                </a:solidFill>
                <a:latin typeface="Public Sans" pitchFamily="34" charset="0"/>
                <a:ea typeface="Public Sans" pitchFamily="34" charset="-122"/>
                <a:cs typeface="Public Sans" pitchFamily="34" charset="-120"/>
              </a:rPr>
              <a:t>The agent ran C# in the open Editor, Play mode, tests and captures</a:t>
            </a:r>
            <a:endParaRPr lang="en-US" sz="1300" dirty="0"/>
          </a:p>
        </p:txBody>
      </p:sp>
      <p:sp>
        <p:nvSpPr>
          <p:cNvPr id="14" name="Shape 10"/>
          <p:cNvSpPr/>
          <p:nvPr/>
        </p:nvSpPr>
        <p:spPr>
          <a:xfrm>
            <a:off x="5103392" y="1956222"/>
            <a:ext cx="1985099" cy="2472567"/>
          </a:xfrm>
          <a:prstGeom prst="roundRect">
            <a:avLst>
              <a:gd name="adj" fmla="val 4958"/>
            </a:avLst>
          </a:prstGeom>
          <a:solidFill>
            <a:srgbClr val="18212B"/>
          </a:solidFill>
          <a:ln w="6350">
            <a:solidFill>
              <a:srgbClr val="2A3644"/>
            </a:solidFill>
            <a:prstDash val="solid"/>
          </a:ln>
        </p:spPr>
      </p:sp>
      <p:pic>
        <p:nvPicPr>
          <p:cNvPr id="15" name="Image 2" descr="Lightbulb">    </p:cNvPr>
          <p:cNvPicPr>
            <a:picLocks noChangeAspect="1"/>
          </p:cNvPicPr>
          <p:nvPr/>
        </p:nvPicPr>
        <p:blipFill>
          <a:blip r:embed="rId3"/>
          <a:srcRect l="0" r="0" t="0" b="0"/>
          <a:stretch/>
        </p:blipFill>
        <p:spPr>
          <a:xfrm>
            <a:off x="5309171" y="2161998"/>
            <a:ext cx="355593" cy="355593"/>
          </a:xfrm>
          <a:prstGeom prst="rect">
            <a:avLst/>
          </a:prstGeom>
        </p:spPr>
      </p:pic>
      <p:sp>
        <p:nvSpPr>
          <p:cNvPr id="16" name="Text 11"/>
          <p:cNvSpPr/>
          <p:nvPr/>
        </p:nvSpPr>
        <p:spPr>
          <a:xfrm>
            <a:off x="5309171" y="2619127"/>
            <a:ext cx="1624340" cy="288245"/>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E8EDF1"/>
                </a:solidFill>
                <a:latin typeface="Oswald" pitchFamily="34" charset="0"/>
                <a:ea typeface="Oswald" pitchFamily="34" charset="-122"/>
                <a:cs typeface="Oswald" pitchFamily="34" charset="-120"/>
              </a:rPr>
              <a:t>Codex CLI</a:t>
            </a:r>
            <a:endParaRPr lang="en-US" sz="1800" dirty="0"/>
          </a:p>
        </p:txBody>
      </p:sp>
      <p:sp>
        <p:nvSpPr>
          <p:cNvPr id="17" name="Text 12"/>
          <p:cNvSpPr/>
          <p:nvPr/>
        </p:nvSpPr>
        <p:spPr>
          <a:xfrm>
            <a:off x="5309171" y="2983505"/>
            <a:ext cx="1624340"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BB9"/>
                </a:solidFill>
                <a:latin typeface="Public Sans" pitchFamily="34" charset="0"/>
                <a:ea typeface="Public Sans" pitchFamily="34" charset="-122"/>
                <a:cs typeface="Public Sans" pitchFamily="34" charset="-120"/>
              </a:rPr>
              <a:t>GPT image tool</a:t>
            </a:r>
            <a:endParaRPr lang="en-US" sz="1200" dirty="0"/>
          </a:p>
        </p:txBody>
      </p:sp>
      <p:sp>
        <p:nvSpPr>
          <p:cNvPr id="18" name="Text 13"/>
          <p:cNvSpPr/>
          <p:nvPr/>
        </p:nvSpPr>
        <p:spPr>
          <a:xfrm>
            <a:off x="5309171" y="3298431"/>
            <a:ext cx="1624340" cy="7188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FD8"/>
                </a:solidFill>
                <a:latin typeface="Public Sans" pitchFamily="34" charset="0"/>
                <a:ea typeface="Public Sans" pitchFamily="34" charset="-122"/>
                <a:cs typeface="Public Sans" pitchFamily="34" charset="-120"/>
              </a:rPr>
              <a:t>17 concept images, called by Claude Code</a:t>
            </a:r>
            <a:endParaRPr lang="en-US" sz="1300" dirty="0"/>
          </a:p>
        </p:txBody>
      </p:sp>
      <p:sp>
        <p:nvSpPr>
          <p:cNvPr id="19" name="Shape 14"/>
          <p:cNvSpPr/>
          <p:nvPr/>
        </p:nvSpPr>
        <p:spPr>
          <a:xfrm>
            <a:off x="7247186" y="1956222"/>
            <a:ext cx="1985099" cy="2472567"/>
          </a:xfrm>
          <a:prstGeom prst="roundRect">
            <a:avLst>
              <a:gd name="adj" fmla="val 4958"/>
            </a:avLst>
          </a:prstGeom>
          <a:solidFill>
            <a:srgbClr val="18212B"/>
          </a:solidFill>
          <a:ln w="6350">
            <a:solidFill>
              <a:srgbClr val="2A3644"/>
            </a:solidFill>
            <a:prstDash val="solid"/>
          </a:ln>
        </p:spPr>
      </p:sp>
      <p:pic>
        <p:nvPicPr>
          <p:cNvPr id="20" name="Image 3" descr="Star">    </p:cNvPr>
          <p:cNvPicPr>
            <a:picLocks noChangeAspect="1"/>
          </p:cNvPicPr>
          <p:nvPr/>
        </p:nvPicPr>
        <p:blipFill>
          <a:blip r:embed="rId4"/>
          <a:srcRect l="0" r="0" t="0" b="0"/>
          <a:stretch/>
        </p:blipFill>
        <p:spPr>
          <a:xfrm>
            <a:off x="7452964" y="2161998"/>
            <a:ext cx="355593" cy="355593"/>
          </a:xfrm>
          <a:prstGeom prst="rect">
            <a:avLst/>
          </a:prstGeom>
        </p:spPr>
      </p:pic>
      <p:sp>
        <p:nvSpPr>
          <p:cNvPr id="21" name="Text 15"/>
          <p:cNvSpPr/>
          <p:nvPr/>
        </p:nvSpPr>
        <p:spPr>
          <a:xfrm>
            <a:off x="7452964" y="2619127"/>
            <a:ext cx="1624340" cy="288245"/>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E8EDF1"/>
                </a:solidFill>
                <a:latin typeface="Oswald" pitchFamily="34" charset="0"/>
                <a:ea typeface="Oswald" pitchFamily="34" charset="-122"/>
                <a:cs typeface="Oswald" pitchFamily="34" charset="-120"/>
              </a:rPr>
              <a:t>Tripo Studio</a:t>
            </a:r>
            <a:endParaRPr lang="en-US" sz="1800" dirty="0"/>
          </a:p>
        </p:txBody>
      </p:sp>
      <p:sp>
        <p:nvSpPr>
          <p:cNvPr id="22" name="Text 16"/>
          <p:cNvSpPr/>
          <p:nvPr/>
        </p:nvSpPr>
        <p:spPr>
          <a:xfrm>
            <a:off x="7452964" y="2983505"/>
            <a:ext cx="1624340"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BB9"/>
                </a:solidFill>
                <a:latin typeface="Public Sans" pitchFamily="34" charset="0"/>
                <a:ea typeface="Public Sans" pitchFamily="34" charset="-122"/>
                <a:cs typeface="Public Sans" pitchFamily="34" charset="-120"/>
              </a:rPr>
              <a:t>Pro plan</a:t>
            </a:r>
            <a:endParaRPr lang="en-US" sz="1200" dirty="0"/>
          </a:p>
        </p:txBody>
      </p:sp>
      <p:sp>
        <p:nvSpPr>
          <p:cNvPr id="23" name="Text 17"/>
          <p:cNvSpPr/>
          <p:nvPr/>
        </p:nvSpPr>
        <p:spPr>
          <a:xfrm>
            <a:off x="7452964" y="3298431"/>
            <a:ext cx="1624340" cy="7188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FD8"/>
                </a:solidFill>
                <a:latin typeface="Public Sans" pitchFamily="34" charset="0"/>
                <a:ea typeface="Public Sans" pitchFamily="34" charset="-122"/>
                <a:cs typeface="Public Sans" pitchFamily="34" charset="-120"/>
              </a:rPr>
              <a:t>Six models, auto-rig, eight animation clips</a:t>
            </a:r>
            <a:endParaRPr lang="en-US" sz="1300" dirty="0"/>
          </a:p>
        </p:txBody>
      </p:sp>
      <p:sp>
        <p:nvSpPr>
          <p:cNvPr id="24" name="Shape 18"/>
          <p:cNvSpPr/>
          <p:nvPr/>
        </p:nvSpPr>
        <p:spPr>
          <a:xfrm>
            <a:off x="9390979" y="1956222"/>
            <a:ext cx="1985099" cy="2472567"/>
          </a:xfrm>
          <a:prstGeom prst="roundRect">
            <a:avLst>
              <a:gd name="adj" fmla="val 4958"/>
            </a:avLst>
          </a:prstGeom>
          <a:solidFill>
            <a:srgbClr val="18212B"/>
          </a:solidFill>
          <a:ln w="6350">
            <a:solidFill>
              <a:srgbClr val="2A3644"/>
            </a:solidFill>
            <a:prstDash val="solid"/>
          </a:ln>
        </p:spPr>
      </p:sp>
      <p:pic>
        <p:nvPicPr>
          <p:cNvPr id="25" name="Image 4" descr="Activity">    </p:cNvPr>
          <p:cNvPicPr>
            <a:picLocks noChangeAspect="1"/>
          </p:cNvPicPr>
          <p:nvPr/>
        </p:nvPicPr>
        <p:blipFill>
          <a:blip r:embed="rId5"/>
          <a:srcRect l="0" r="0" t="0" b="0"/>
          <a:stretch/>
        </p:blipFill>
        <p:spPr>
          <a:xfrm>
            <a:off x="9596758" y="2161998"/>
            <a:ext cx="355593" cy="355593"/>
          </a:xfrm>
          <a:prstGeom prst="rect">
            <a:avLst/>
          </a:prstGeom>
        </p:spPr>
      </p:pic>
      <p:sp>
        <p:nvSpPr>
          <p:cNvPr id="26" name="Text 19"/>
          <p:cNvSpPr/>
          <p:nvPr/>
        </p:nvSpPr>
        <p:spPr>
          <a:xfrm>
            <a:off x="9596758" y="2619127"/>
            <a:ext cx="1624340" cy="288245"/>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E8EDF1"/>
                </a:solidFill>
                <a:latin typeface="Oswald" pitchFamily="34" charset="0"/>
                <a:ea typeface="Oswald" pitchFamily="34" charset="-122"/>
                <a:cs typeface="Oswald" pitchFamily="34" charset="-120"/>
              </a:rPr>
              <a:t>ElevenLabs</a:t>
            </a:r>
            <a:endParaRPr lang="en-US" sz="1800" dirty="0"/>
          </a:p>
        </p:txBody>
      </p:sp>
      <p:sp>
        <p:nvSpPr>
          <p:cNvPr id="27" name="Text 20"/>
          <p:cNvSpPr/>
          <p:nvPr/>
        </p:nvSpPr>
        <p:spPr>
          <a:xfrm>
            <a:off x="9596758" y="2983505"/>
            <a:ext cx="1624340"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BB9"/>
                </a:solidFill>
                <a:latin typeface="Public Sans" pitchFamily="34" charset="0"/>
                <a:ea typeface="Public Sans" pitchFamily="34" charset="-122"/>
                <a:cs typeface="Public Sans" pitchFamily="34" charset="-120"/>
              </a:rPr>
              <a:t>Creator plan</a:t>
            </a:r>
            <a:endParaRPr lang="en-US" sz="1200" dirty="0"/>
          </a:p>
        </p:txBody>
      </p:sp>
      <p:sp>
        <p:nvSpPr>
          <p:cNvPr id="28" name="Text 21"/>
          <p:cNvSpPr/>
          <p:nvPr/>
        </p:nvSpPr>
        <p:spPr>
          <a:xfrm>
            <a:off x="9596758" y="3298431"/>
            <a:ext cx="1624340" cy="7188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FD8"/>
                </a:solidFill>
                <a:latin typeface="Public Sans" pitchFamily="34" charset="0"/>
                <a:ea typeface="Public Sans" pitchFamily="34" charset="-122"/>
                <a:cs typeface="Public Sans" pitchFamily="34" charset="-120"/>
              </a:rPr>
              <a:t>13 sound effects through the API; two music tracks</a:t>
            </a:r>
            <a:endParaRPr lang="en-US" sz="1300" dirty="0"/>
          </a:p>
        </p:txBody>
      </p:sp>
      <p:sp>
        <p:nvSpPr>
          <p:cNvPr id="29" name="Text 22"/>
          <p:cNvSpPr/>
          <p:nvPr/>
        </p:nvSpPr>
        <p:spPr>
          <a:xfrm>
            <a:off x="812720" y="4736743"/>
            <a:ext cx="10883529"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FD8"/>
                </a:solidFill>
                <a:latin typeface="Public Sans" pitchFamily="34" charset="0"/>
                <a:ea typeface="Public Sans" pitchFamily="34" charset="-122"/>
                <a:cs typeface="Public Sans" pitchFamily="34" charset="-120"/>
              </a:rPr>
              <a:t>The agent didn’t just write files: it controlled the running Editor, so it could build levels, play them and check the result itself.</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5C7F5"/>
                </a:solidFill>
                <a:latin typeface="Public Sans" pitchFamily="34" charset="0"/>
                <a:ea typeface="Public Sans" pitchFamily="34" charset="-122"/>
                <a:cs typeface="Public Sans" pitchFamily="34" charset="-120"/>
              </a:rPr>
              <a:t>PROCESS</a:t>
            </a:r>
            <a:endParaRPr lang="en-US" sz="1300" dirty="0"/>
          </a:p>
        </p:txBody>
      </p:sp>
      <p:sp>
        <p:nvSpPr>
          <p:cNvPr id="3" name="Text 1"/>
          <p:cNvSpPr/>
          <p:nvPr>
            <p:ph type="title"/>
          </p:nvPr>
        </p:nvSpPr>
        <p:spPr>
          <a:xfrm>
            <a:off x="812720" y="1145397"/>
            <a:ext cx="10883529" cy="528266"/>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E8EDF1"/>
                </a:solidFill>
                <a:latin typeface="Oswald" pitchFamily="34" charset="0"/>
                <a:ea typeface="Oswald" pitchFamily="34" charset="-122"/>
                <a:cs typeface="Oswald" pitchFamily="34" charset="-120"/>
              </a:rPr>
              <a:t>THE LOOP BEHIND EVERY FEATURE</a:t>
            </a:r>
            <a:endParaRPr lang="en-US" sz="3600" dirty="0"/>
          </a:p>
        </p:txBody>
      </p:sp>
      <p:sp>
        <p:nvSpPr>
          <p:cNvPr id="4" name="Shape 2"/>
          <p:cNvSpPr/>
          <p:nvPr/>
        </p:nvSpPr>
        <p:spPr>
          <a:xfrm>
            <a:off x="815895" y="2144161"/>
            <a:ext cx="1761653" cy="1544366"/>
          </a:xfrm>
          <a:prstGeom prst="roundRect">
            <a:avLst>
              <a:gd name="adj" fmla="val 6373"/>
            </a:avLst>
          </a:prstGeom>
          <a:solidFill>
            <a:srgbClr val="18212B"/>
          </a:solidFill>
          <a:ln w="6350">
            <a:solidFill>
              <a:srgbClr val="2A3644"/>
            </a:solidFill>
            <a:prstDash val="solid"/>
          </a:ln>
        </p:spPr>
      </p:sp>
      <p:pic>
        <p:nvPicPr>
          <p:cNvPr id="5" name="Image 0" descr="Lightbulb">    </p:cNvPr>
          <p:cNvPicPr>
            <a:picLocks noChangeAspect="1"/>
          </p:cNvPicPr>
          <p:nvPr/>
        </p:nvPicPr>
        <p:blipFill>
          <a:blip r:embed="rId1"/>
          <a:srcRect l="0" r="0" t="0" b="0"/>
          <a:stretch/>
        </p:blipFill>
        <p:spPr>
          <a:xfrm>
            <a:off x="996313" y="2324581"/>
            <a:ext cx="304781" cy="304781"/>
          </a:xfrm>
          <a:prstGeom prst="rect">
            <a:avLst/>
          </a:prstGeom>
        </p:spPr>
      </p:pic>
      <p:sp>
        <p:nvSpPr>
          <p:cNvPr id="6" name="Text 3"/>
          <p:cNvSpPr/>
          <p:nvPr/>
        </p:nvSpPr>
        <p:spPr>
          <a:xfrm>
            <a:off x="996313" y="2718215"/>
            <a:ext cx="1451616" cy="299658"/>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8EDF1"/>
                </a:solidFill>
                <a:latin typeface="Oswald" pitchFamily="34" charset="0"/>
                <a:ea typeface="Oswald" pitchFamily="34" charset="-122"/>
                <a:cs typeface="Oswald" pitchFamily="34" charset="-120"/>
              </a:rPr>
              <a:t>Describe</a:t>
            </a:r>
            <a:endParaRPr lang="en-US" sz="1800" dirty="0"/>
          </a:p>
        </p:txBody>
      </p:sp>
      <p:sp>
        <p:nvSpPr>
          <p:cNvPr id="7" name="Text 4"/>
          <p:cNvSpPr/>
          <p:nvPr/>
        </p:nvSpPr>
        <p:spPr>
          <a:xfrm>
            <a:off x="996313" y="3081325"/>
            <a:ext cx="1451616" cy="45218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I set the goal and the constraints</a:t>
            </a:r>
            <a:endParaRPr lang="en-US" sz="1200" dirty="0"/>
          </a:p>
        </p:txBody>
      </p:sp>
      <p:pic>
        <p:nvPicPr>
          <p:cNvPr id="8" name="Image 1" descr="arrow-right">    </p:cNvPr>
          <p:cNvPicPr>
            <a:picLocks noChangeAspect="1"/>
          </p:cNvPicPr>
          <p:nvPr/>
        </p:nvPicPr>
        <p:blipFill>
          <a:blip r:embed="rId2"/>
          <a:srcRect l="0" r="0" t="-5" b="-5"/>
          <a:stretch/>
        </p:blipFill>
        <p:spPr>
          <a:xfrm>
            <a:off x="2682256" y="2846468"/>
            <a:ext cx="228518" cy="139665"/>
          </a:xfrm>
          <a:prstGeom prst="rect">
            <a:avLst/>
          </a:prstGeom>
        </p:spPr>
      </p:pic>
      <p:sp>
        <p:nvSpPr>
          <p:cNvPr id="9" name="Shape 5"/>
          <p:cNvSpPr/>
          <p:nvPr/>
        </p:nvSpPr>
        <p:spPr>
          <a:xfrm>
            <a:off x="3015482" y="1930769"/>
            <a:ext cx="1761743" cy="1971150"/>
          </a:xfrm>
          <a:prstGeom prst="roundRect">
            <a:avLst>
              <a:gd name="adj" fmla="val 5587"/>
            </a:avLst>
          </a:prstGeom>
          <a:solidFill>
            <a:srgbClr val="18212B"/>
          </a:solidFill>
          <a:ln w="6350">
            <a:solidFill>
              <a:srgbClr val="2A3644"/>
            </a:solidFill>
            <a:prstDash val="solid"/>
          </a:ln>
        </p:spPr>
      </p:sp>
      <p:pic>
        <p:nvPicPr>
          <p:cNvPr id="10" name="Image 2" descr="Chat">    </p:cNvPr>
          <p:cNvPicPr>
            <a:picLocks noChangeAspect="1"/>
          </p:cNvPicPr>
          <p:nvPr/>
        </p:nvPicPr>
        <p:blipFill>
          <a:blip r:embed="rId3"/>
          <a:srcRect l="0" r="0" t="0" b="0"/>
          <a:stretch/>
        </p:blipFill>
        <p:spPr>
          <a:xfrm>
            <a:off x="3195900" y="2111189"/>
            <a:ext cx="304781" cy="304781"/>
          </a:xfrm>
          <a:prstGeom prst="rect">
            <a:avLst/>
          </a:prstGeom>
        </p:spPr>
      </p:pic>
      <p:sp>
        <p:nvSpPr>
          <p:cNvPr id="11" name="Text 6"/>
          <p:cNvSpPr/>
          <p:nvPr/>
        </p:nvSpPr>
        <p:spPr>
          <a:xfrm>
            <a:off x="3195900" y="2504821"/>
            <a:ext cx="1451707" cy="299658"/>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8EDF1"/>
                </a:solidFill>
                <a:latin typeface="Oswald" pitchFamily="34" charset="0"/>
                <a:ea typeface="Oswald" pitchFamily="34" charset="-122"/>
                <a:cs typeface="Oswald" pitchFamily="34" charset="-120"/>
              </a:rPr>
              <a:t>Plan</a:t>
            </a:r>
            <a:endParaRPr lang="en-US" sz="1800" dirty="0"/>
          </a:p>
        </p:txBody>
      </p:sp>
      <p:sp>
        <p:nvSpPr>
          <p:cNvPr id="12" name="Text 7"/>
          <p:cNvSpPr/>
          <p:nvPr/>
        </p:nvSpPr>
        <p:spPr>
          <a:xfrm>
            <a:off x="3195900" y="2867933"/>
            <a:ext cx="1451707" cy="87896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The agent proposes; I question and decide</a:t>
            </a:r>
            <a:endParaRPr lang="en-US" sz="1200" dirty="0"/>
          </a:p>
        </p:txBody>
      </p:sp>
      <p:pic>
        <p:nvPicPr>
          <p:cNvPr id="13" name="Image 3" descr="arrow-right">    </p:cNvPr>
          <p:cNvPicPr>
            <a:picLocks noChangeAspect="1"/>
          </p:cNvPicPr>
          <p:nvPr/>
        </p:nvPicPr>
        <p:blipFill>
          <a:blip r:embed="rId4"/>
          <a:srcRect l="0" r="0" t="-5" b="-5"/>
          <a:stretch/>
        </p:blipFill>
        <p:spPr>
          <a:xfrm>
            <a:off x="4881934" y="2846468"/>
            <a:ext cx="228518" cy="139665"/>
          </a:xfrm>
          <a:prstGeom prst="rect">
            <a:avLst/>
          </a:prstGeom>
        </p:spPr>
      </p:pic>
      <p:sp>
        <p:nvSpPr>
          <p:cNvPr id="14" name="Shape 8"/>
          <p:cNvSpPr/>
          <p:nvPr/>
        </p:nvSpPr>
        <p:spPr>
          <a:xfrm>
            <a:off x="5215160" y="2037466"/>
            <a:ext cx="1761653" cy="1757758"/>
          </a:xfrm>
          <a:prstGeom prst="roundRect">
            <a:avLst>
              <a:gd name="adj" fmla="val 5599"/>
            </a:avLst>
          </a:prstGeom>
          <a:solidFill>
            <a:srgbClr val="18212B"/>
          </a:solidFill>
          <a:ln w="6350">
            <a:solidFill>
              <a:srgbClr val="2A3644"/>
            </a:solidFill>
            <a:prstDash val="solid"/>
          </a:ln>
        </p:spPr>
      </p:sp>
      <p:pic>
        <p:nvPicPr>
          <p:cNvPr id="15" name="Image 4" descr="Wrench">    </p:cNvPr>
          <p:cNvPicPr>
            <a:picLocks noChangeAspect="1"/>
          </p:cNvPicPr>
          <p:nvPr/>
        </p:nvPicPr>
        <p:blipFill>
          <a:blip r:embed="rId5"/>
          <a:srcRect l="0" r="0" t="0" b="0"/>
          <a:stretch/>
        </p:blipFill>
        <p:spPr>
          <a:xfrm>
            <a:off x="5395578" y="2217883"/>
            <a:ext cx="304781" cy="304781"/>
          </a:xfrm>
          <a:prstGeom prst="rect">
            <a:avLst/>
          </a:prstGeom>
        </p:spPr>
      </p:pic>
      <p:sp>
        <p:nvSpPr>
          <p:cNvPr id="16" name="Text 9"/>
          <p:cNvSpPr/>
          <p:nvPr/>
        </p:nvSpPr>
        <p:spPr>
          <a:xfrm>
            <a:off x="5395578" y="2611518"/>
            <a:ext cx="1451616" cy="299658"/>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8EDF1"/>
                </a:solidFill>
                <a:latin typeface="Oswald" pitchFamily="34" charset="0"/>
                <a:ea typeface="Oswald" pitchFamily="34" charset="-122"/>
                <a:cs typeface="Oswald" pitchFamily="34" charset="-120"/>
              </a:rPr>
              <a:t>Build</a:t>
            </a:r>
            <a:endParaRPr lang="en-US" sz="1800" dirty="0"/>
          </a:p>
        </p:txBody>
      </p:sp>
      <p:sp>
        <p:nvSpPr>
          <p:cNvPr id="17" name="Text 10"/>
          <p:cNvSpPr/>
          <p:nvPr/>
        </p:nvSpPr>
        <p:spPr>
          <a:xfrm>
            <a:off x="5395578" y="2974628"/>
            <a:ext cx="1451616" cy="66557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Code and tests, then it plays the result in the Editor</a:t>
            </a:r>
            <a:endParaRPr lang="en-US" sz="1200" dirty="0"/>
          </a:p>
        </p:txBody>
      </p:sp>
      <p:pic>
        <p:nvPicPr>
          <p:cNvPr id="18" name="Image 5" descr="arrow-right">    </p:cNvPr>
          <p:cNvPicPr>
            <a:picLocks noChangeAspect="1"/>
          </p:cNvPicPr>
          <p:nvPr/>
        </p:nvPicPr>
        <p:blipFill>
          <a:blip r:embed="rId6"/>
          <a:srcRect l="0" r="0" t="-5" b="-5"/>
          <a:stretch/>
        </p:blipFill>
        <p:spPr>
          <a:xfrm>
            <a:off x="7081521" y="2846468"/>
            <a:ext cx="228518" cy="139665"/>
          </a:xfrm>
          <a:prstGeom prst="rect">
            <a:avLst/>
          </a:prstGeom>
        </p:spPr>
      </p:pic>
      <p:sp>
        <p:nvSpPr>
          <p:cNvPr id="19" name="Shape 11"/>
          <p:cNvSpPr/>
          <p:nvPr/>
        </p:nvSpPr>
        <p:spPr>
          <a:xfrm>
            <a:off x="7414747" y="2144161"/>
            <a:ext cx="1761743" cy="1544366"/>
          </a:xfrm>
          <a:prstGeom prst="roundRect">
            <a:avLst>
              <a:gd name="adj" fmla="val 6373"/>
            </a:avLst>
          </a:prstGeom>
          <a:solidFill>
            <a:srgbClr val="18212B"/>
          </a:solidFill>
          <a:ln w="6350">
            <a:solidFill>
              <a:srgbClr val="2A3644"/>
            </a:solidFill>
            <a:prstDash val="solid"/>
          </a:ln>
        </p:spPr>
      </p:sp>
      <p:pic>
        <p:nvPicPr>
          <p:cNvPr id="20" name="Image 6" descr="Play">    </p:cNvPr>
          <p:cNvPicPr>
            <a:picLocks noChangeAspect="1"/>
          </p:cNvPicPr>
          <p:nvPr/>
        </p:nvPicPr>
        <p:blipFill>
          <a:blip r:embed="rId7"/>
          <a:srcRect l="0" r="0" t="0" b="0"/>
          <a:stretch/>
        </p:blipFill>
        <p:spPr>
          <a:xfrm>
            <a:off x="7595166" y="2324581"/>
            <a:ext cx="304781" cy="304781"/>
          </a:xfrm>
          <a:prstGeom prst="rect">
            <a:avLst/>
          </a:prstGeom>
        </p:spPr>
      </p:pic>
      <p:sp>
        <p:nvSpPr>
          <p:cNvPr id="21" name="Text 12"/>
          <p:cNvSpPr/>
          <p:nvPr/>
        </p:nvSpPr>
        <p:spPr>
          <a:xfrm>
            <a:off x="7595166" y="2718215"/>
            <a:ext cx="1451707" cy="299658"/>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8EDF1"/>
                </a:solidFill>
                <a:latin typeface="Oswald" pitchFamily="34" charset="0"/>
                <a:ea typeface="Oswald" pitchFamily="34" charset="-122"/>
                <a:cs typeface="Oswald" pitchFamily="34" charset="-120"/>
              </a:rPr>
              <a:t>Playtest</a:t>
            </a:r>
            <a:endParaRPr lang="en-US" sz="1800" dirty="0"/>
          </a:p>
        </p:txBody>
      </p:sp>
      <p:sp>
        <p:nvSpPr>
          <p:cNvPr id="22" name="Text 13"/>
          <p:cNvSpPr/>
          <p:nvPr/>
        </p:nvSpPr>
        <p:spPr>
          <a:xfrm>
            <a:off x="7595166" y="3081325"/>
            <a:ext cx="1451707" cy="45218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I play it and say what feels wrong</a:t>
            </a:r>
            <a:endParaRPr lang="en-US" sz="1200" dirty="0"/>
          </a:p>
        </p:txBody>
      </p:sp>
      <p:pic>
        <p:nvPicPr>
          <p:cNvPr id="23" name="Image 7" descr="arrow-right">    </p:cNvPr>
          <p:cNvPicPr>
            <a:picLocks noChangeAspect="1"/>
          </p:cNvPicPr>
          <p:nvPr/>
        </p:nvPicPr>
        <p:blipFill>
          <a:blip r:embed="rId8"/>
          <a:srcRect l="0" r="0" t="-5" b="-5"/>
          <a:stretch/>
        </p:blipFill>
        <p:spPr>
          <a:xfrm>
            <a:off x="9281199" y="2846468"/>
            <a:ext cx="228518" cy="139665"/>
          </a:xfrm>
          <a:prstGeom prst="rect">
            <a:avLst/>
          </a:prstGeom>
        </p:spPr>
      </p:pic>
      <p:sp>
        <p:nvSpPr>
          <p:cNvPr id="24" name="Shape 14"/>
          <p:cNvSpPr/>
          <p:nvPr/>
        </p:nvSpPr>
        <p:spPr>
          <a:xfrm>
            <a:off x="9614426" y="2144161"/>
            <a:ext cx="1761653" cy="1544366"/>
          </a:xfrm>
          <a:prstGeom prst="roundRect">
            <a:avLst>
              <a:gd name="adj" fmla="val 6373"/>
            </a:avLst>
          </a:prstGeom>
          <a:solidFill>
            <a:srgbClr val="18212B"/>
          </a:solidFill>
          <a:ln w="6350">
            <a:solidFill>
              <a:srgbClr val="2A3644"/>
            </a:solidFill>
            <a:prstDash val="solid"/>
          </a:ln>
        </p:spPr>
      </p:sp>
      <p:pic>
        <p:nvPicPr>
          <p:cNvPr id="25" name="Image 8" descr="CheckCircle">    </p:cNvPr>
          <p:cNvPicPr>
            <a:picLocks noChangeAspect="1"/>
          </p:cNvPicPr>
          <p:nvPr/>
        </p:nvPicPr>
        <p:blipFill>
          <a:blip r:embed="rId9"/>
          <a:srcRect l="0" r="0" t="0" b="0"/>
          <a:stretch/>
        </p:blipFill>
        <p:spPr>
          <a:xfrm>
            <a:off x="9794843" y="2324581"/>
            <a:ext cx="304781" cy="304781"/>
          </a:xfrm>
          <a:prstGeom prst="rect">
            <a:avLst/>
          </a:prstGeom>
        </p:spPr>
      </p:pic>
      <p:sp>
        <p:nvSpPr>
          <p:cNvPr id="26" name="Text 15"/>
          <p:cNvSpPr/>
          <p:nvPr/>
        </p:nvSpPr>
        <p:spPr>
          <a:xfrm>
            <a:off x="9794843" y="2718215"/>
            <a:ext cx="1451616" cy="299658"/>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8EDF1"/>
                </a:solidFill>
                <a:latin typeface="Oswald" pitchFamily="34" charset="0"/>
                <a:ea typeface="Oswald" pitchFamily="34" charset="-122"/>
                <a:cs typeface="Oswald" pitchFamily="34" charset="-120"/>
              </a:rPr>
              <a:t>Commit</a:t>
            </a:r>
            <a:endParaRPr lang="en-US" sz="1800" dirty="0"/>
          </a:p>
        </p:txBody>
      </p:sp>
      <p:sp>
        <p:nvSpPr>
          <p:cNvPr id="27" name="Text 16"/>
          <p:cNvSpPr/>
          <p:nvPr/>
        </p:nvSpPr>
        <p:spPr>
          <a:xfrm>
            <a:off x="9794843" y="3081325"/>
            <a:ext cx="1451616" cy="45218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Only on my go-ahead</a:t>
            </a:r>
            <a:endParaRPr lang="en-US" sz="1200" dirty="0"/>
          </a:p>
        </p:txBody>
      </p:sp>
      <p:sp>
        <p:nvSpPr>
          <p:cNvPr id="28" name="Text 17"/>
          <p:cNvSpPr/>
          <p:nvPr/>
        </p:nvSpPr>
        <p:spPr>
          <a:xfrm>
            <a:off x="812720" y="4184424"/>
            <a:ext cx="10883529"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BB9"/>
                </a:solidFill>
                <a:latin typeface="Public Sans" pitchFamily="34" charset="0"/>
                <a:ea typeface="Public Sans" pitchFamily="34" charset="-122"/>
                <a:cs typeface="Public Sans" pitchFamily="34" charset="-120"/>
              </a:rPr>
              <a:t>Playtest notes loop back to Build until it feels right. White steps are mine; blue steps are the agent’s.</a:t>
            </a:r>
            <a:endParaRPr lang="en-US" sz="1400" dirty="0"/>
          </a:p>
        </p:txBody>
      </p:sp>
      <p:sp>
        <p:nvSpPr>
          <p:cNvPr id="29" name="Text 18"/>
          <p:cNvSpPr/>
          <p:nvPr/>
        </p:nvSpPr>
        <p:spPr>
          <a:xfrm>
            <a:off x="815895" y="4715827"/>
            <a:ext cx="3414264" cy="1003368"/>
          </a:xfrm>
          <a:prstGeom prst="roundRect">
            <a:avLst>
              <a:gd name="adj" fmla="val 7278"/>
            </a:avLst>
          </a:prstGeom>
          <a:solidFill>
            <a:srgbClr val="18212B"/>
          </a:solidFill>
          <a:ln w="6350">
            <a:solidFill>
              <a:srgbClr val="2A3644"/>
            </a:solidFill>
            <a:prstDash val="solid"/>
          </a:ln>
        </p:spPr>
        <p:txBody>
          <a:bodyPr wrap="square" lIns="133633" tIns="133633" rIns="40507" bIns="108233" rtlCol="0" anchor="t">
            <a:normAutofit/>
          </a:bodyPr>
          <a:lstStyle/>
          <a:p>
            <a:pPr algn="l" indent="0" marL="0">
              <a:lnSpc>
                <a:spcPts val="1820"/>
              </a:lnSpc>
              <a:buNone/>
            </a:pPr>
            <a:r>
              <a:rPr lang="en-US" sz="1300" b="1" dirty="0">
                <a:solidFill>
                  <a:srgbClr val="E8EDF1"/>
                </a:solidFill>
                <a:latin typeface="Public Sans" pitchFamily="34" charset="0"/>
                <a:ea typeface="Public Sans" pitchFamily="34" charset="-122"/>
                <a:cs typeface="Public Sans" pitchFamily="34" charset="-120"/>
              </a:rPr>
              <a:t>Grey boxes first.</a:t>
            </a:r>
            <a:r>
              <a:rPr lang="en-US" sz="1300" dirty="0">
                <a:solidFill>
                  <a:srgbClr val="C3CFD8"/>
                </a:solidFill>
                <a:latin typeface="Public Sans" pitchFamily="34" charset="0"/>
                <a:ea typeface="Public Sans" pitchFamily="34" charset="-122"/>
                <a:cs typeface="Public Sans" pitchFamily="34" charset="-120"/>
              </a:rPr>
              <a:t> Art and sound went onto a game that already played well.</a:t>
            </a:r>
            <a:endParaRPr lang="en-US" sz="1300" dirty="0"/>
          </a:p>
        </p:txBody>
      </p:sp>
      <p:sp>
        <p:nvSpPr>
          <p:cNvPr id="30" name="Text 19"/>
          <p:cNvSpPr/>
          <p:nvPr/>
        </p:nvSpPr>
        <p:spPr>
          <a:xfrm>
            <a:off x="4388854" y="4715827"/>
            <a:ext cx="3414264" cy="1003368"/>
          </a:xfrm>
          <a:prstGeom prst="roundRect">
            <a:avLst>
              <a:gd name="adj" fmla="val 7278"/>
            </a:avLst>
          </a:prstGeom>
          <a:solidFill>
            <a:srgbClr val="18212B"/>
          </a:solidFill>
          <a:ln w="6350">
            <a:solidFill>
              <a:srgbClr val="2A3644"/>
            </a:solidFill>
            <a:prstDash val="solid"/>
          </a:ln>
        </p:spPr>
        <p:txBody>
          <a:bodyPr wrap="square" lIns="133633" tIns="133633" rIns="40507" bIns="108233" rtlCol="0" anchor="t">
            <a:normAutofit/>
          </a:bodyPr>
          <a:lstStyle/>
          <a:p>
            <a:pPr algn="l" indent="0" marL="0">
              <a:lnSpc>
                <a:spcPts val="1820"/>
              </a:lnSpc>
              <a:buNone/>
            </a:pPr>
            <a:r>
              <a:rPr lang="en-US" sz="1300" b="1" dirty="0">
                <a:solidFill>
                  <a:srgbClr val="E8EDF1"/>
                </a:solidFill>
                <a:latin typeface="Public Sans" pitchFamily="34" charset="0"/>
                <a:ea typeface="Public Sans" pitchFamily="34" charset="-122"/>
                <a:cs typeface="Public Sans" pitchFamily="34" charset="-120"/>
              </a:rPr>
              <a:t>Measure, then fix.</a:t>
            </a:r>
            <a:r>
              <a:rPr lang="en-US" sz="1300" dirty="0">
                <a:solidFill>
                  <a:srgbClr val="C3CFD8"/>
                </a:solidFill>
                <a:latin typeface="Public Sans" pitchFamily="34" charset="0"/>
                <a:ea typeface="Public Sans" pitchFamily="34" charset="-122"/>
                <a:cs typeface="Public Sans" pitchFamily="34" charset="-120"/>
              </a:rPr>
              <a:t> Logs, captures and sampled animation before any change.</a:t>
            </a:r>
            <a:endParaRPr lang="en-US" sz="1300" dirty="0"/>
          </a:p>
        </p:txBody>
      </p:sp>
      <p:sp>
        <p:nvSpPr>
          <p:cNvPr id="31" name="Text 20"/>
          <p:cNvSpPr/>
          <p:nvPr/>
        </p:nvSpPr>
        <p:spPr>
          <a:xfrm>
            <a:off x="7961814" y="4715827"/>
            <a:ext cx="3414264" cy="1003368"/>
          </a:xfrm>
          <a:prstGeom prst="roundRect">
            <a:avLst>
              <a:gd name="adj" fmla="val 7278"/>
            </a:avLst>
          </a:prstGeom>
          <a:solidFill>
            <a:srgbClr val="18212B"/>
          </a:solidFill>
          <a:ln w="6350">
            <a:solidFill>
              <a:srgbClr val="2A3644"/>
            </a:solidFill>
            <a:prstDash val="solid"/>
          </a:ln>
        </p:spPr>
        <p:txBody>
          <a:bodyPr wrap="square" lIns="133633" tIns="133633" rIns="40507" bIns="108233" rtlCol="0" anchor="t">
            <a:normAutofit/>
          </a:bodyPr>
          <a:lstStyle/>
          <a:p>
            <a:pPr algn="l" indent="0" marL="0">
              <a:lnSpc>
                <a:spcPts val="1820"/>
              </a:lnSpc>
              <a:buNone/>
            </a:pPr>
            <a:r>
              <a:rPr lang="en-US" sz="1300" b="1" dirty="0">
                <a:solidFill>
                  <a:srgbClr val="E8EDF1"/>
                </a:solidFill>
                <a:latin typeface="Public Sans" pitchFamily="34" charset="0"/>
                <a:ea typeface="Public Sans" pitchFamily="34" charset="-122"/>
                <a:cs typeface="Public Sans" pitchFamily="34" charset="-120"/>
              </a:rPr>
              <a:t>Test every orientation.</a:t>
            </a:r>
            <a:r>
              <a:rPr lang="en-US" sz="1300" dirty="0">
                <a:solidFill>
                  <a:srgbClr val="C3CFD8"/>
                </a:solidFill>
                <a:latin typeface="Public Sans" pitchFamily="34" charset="0"/>
                <a:ea typeface="Public Sans" pitchFamily="34" charset="-122"/>
                <a:cs typeface="Public Sans" pitchFamily="34" charset="-120"/>
              </a:rPr>
              <a:t> Each movement rule checked on floors, walls and ceilings.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5C7F5"/>
                </a:solidFill>
                <a:latin typeface="Public Sans" pitchFamily="34" charset="0"/>
                <a:ea typeface="Public Sans" pitchFamily="34" charset="-122"/>
                <a:cs typeface="Public Sans" pitchFamily="34" charset="-120"/>
              </a:rPr>
              <a:t>3D ASSET WORKFLOW</a:t>
            </a:r>
            <a:endParaRPr lang="en-US" sz="1300" dirty="0"/>
          </a:p>
        </p:txBody>
      </p:sp>
      <p:sp>
        <p:nvSpPr>
          <p:cNvPr id="3" name="Text 1"/>
          <p:cNvSpPr/>
          <p:nvPr>
            <p:ph type="title"/>
          </p:nvPr>
        </p:nvSpPr>
        <p:spPr>
          <a:xfrm>
            <a:off x="812720" y="1145400"/>
            <a:ext cx="10883529" cy="528266"/>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E8EDF1"/>
                </a:solidFill>
                <a:latin typeface="Oswald" pitchFamily="34" charset="0"/>
                <a:ea typeface="Oswald" pitchFamily="34" charset="-122"/>
                <a:cs typeface="Oswald" pitchFamily="34" charset="-120"/>
              </a:rPr>
              <a:t>FROM A SENTENCE TO A PLAYABLE MODEL</a:t>
            </a:r>
            <a:endParaRPr lang="en-US" sz="3600" dirty="0"/>
          </a:p>
        </p:txBody>
      </p:sp>
      <p:sp>
        <p:nvSpPr>
          <p:cNvPr id="4" name="Text 2"/>
          <p:cNvSpPr/>
          <p:nvPr/>
        </p:nvSpPr>
        <p:spPr>
          <a:xfrm>
            <a:off x="812720" y="2030487"/>
            <a:ext cx="1430965" cy="253918"/>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55C7F5"/>
                </a:solidFill>
                <a:latin typeface="Oswald" pitchFamily="34" charset="0"/>
                <a:ea typeface="Oswald" pitchFamily="34" charset="-122"/>
                <a:cs typeface="Oswald" pitchFamily="34" charset="-120"/>
              </a:rPr>
              <a:t>1 · Prompt</a:t>
            </a:r>
            <a:endParaRPr lang="en-US" sz="1500" dirty="0"/>
          </a:p>
        </p:txBody>
      </p:sp>
      <p:sp>
        <p:nvSpPr>
          <p:cNvPr id="5" name="Text 3"/>
          <p:cNvSpPr/>
          <p:nvPr/>
        </p:nvSpPr>
        <p:spPr>
          <a:xfrm>
            <a:off x="815895" y="2351032"/>
            <a:ext cx="1373815" cy="2089077"/>
          </a:xfrm>
          <a:prstGeom prst="roundRect">
            <a:avLst>
              <a:gd name="adj" fmla="val 5315"/>
            </a:avLst>
          </a:prstGeom>
          <a:solidFill>
            <a:srgbClr val="18212B"/>
          </a:solidFill>
          <a:ln w="6350">
            <a:solidFill>
              <a:srgbClr val="2A3644"/>
            </a:solidFill>
            <a:prstDash val="solid"/>
          </a:ln>
        </p:spPr>
        <p:txBody>
          <a:bodyPr wrap="square" lIns="108233" tIns="108233" rIns="57433" bIns="82833"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“Athletic man in blue jumpsuit with sci-fi exoskeleton, glowing blue circle on chest…”</a:t>
            </a:r>
            <a:endParaRPr lang="en-US" sz="1200" dirty="0"/>
          </a:p>
        </p:txBody>
      </p:sp>
      <p:sp>
        <p:nvSpPr>
          <p:cNvPr id="6" name="Text 4"/>
          <p:cNvSpPr/>
          <p:nvPr/>
        </p:nvSpPr>
        <p:spPr>
          <a:xfrm>
            <a:off x="812720" y="4532136"/>
            <a:ext cx="1656198" cy="23118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AABB9"/>
                </a:solidFill>
                <a:latin typeface="Public Sans" pitchFamily="34" charset="0"/>
                <a:ea typeface="Public Sans" pitchFamily="34" charset="-122"/>
                <a:cs typeface="Public Sans" pitchFamily="34" charset="-120"/>
              </a:rPr>
              <a:t>I describe the asset</a:t>
            </a:r>
            <a:endParaRPr lang="en-US" sz="1200" dirty="0"/>
          </a:p>
        </p:txBody>
      </p:sp>
      <p:pic>
        <p:nvPicPr>
          <p:cNvPr id="7" name="Image 0" descr="arrow-right">    </p:cNvPr>
          <p:cNvPicPr>
            <a:picLocks noChangeAspect="1"/>
          </p:cNvPicPr>
          <p:nvPr/>
        </p:nvPicPr>
        <p:blipFill>
          <a:blip r:embed="rId1"/>
          <a:srcRect l="-12" r="-12" t="0" b="0"/>
          <a:stretch/>
        </p:blipFill>
        <p:spPr>
          <a:xfrm>
            <a:off x="2294418" y="3308031"/>
            <a:ext cx="253969" cy="152345"/>
          </a:xfrm>
          <a:prstGeom prst="rect">
            <a:avLst/>
          </a:prstGeom>
        </p:spPr>
      </p:pic>
      <p:sp>
        <p:nvSpPr>
          <p:cNvPr id="8" name="Text 5"/>
          <p:cNvSpPr/>
          <p:nvPr/>
        </p:nvSpPr>
        <p:spPr>
          <a:xfrm>
            <a:off x="2649921" y="1927594"/>
            <a:ext cx="1431056" cy="253918"/>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55C7F5"/>
                </a:solidFill>
                <a:latin typeface="Oswald" pitchFamily="34" charset="0"/>
                <a:ea typeface="Oswald" pitchFamily="34" charset="-122"/>
                <a:cs typeface="Oswald" pitchFamily="34" charset="-120"/>
              </a:rPr>
              <a:t>2 · Codex image</a:t>
            </a:r>
            <a:endParaRPr lang="en-US" sz="1500" dirty="0"/>
          </a:p>
        </p:txBody>
      </p:sp>
      <p:sp>
        <p:nvSpPr>
          <p:cNvPr id="9" name="Shape 6"/>
          <p:cNvSpPr/>
          <p:nvPr/>
        </p:nvSpPr>
        <p:spPr>
          <a:xfrm>
            <a:off x="2649921" y="2244967"/>
            <a:ext cx="1371561" cy="2095427"/>
          </a:xfrm>
          <a:prstGeom prst="roundRect">
            <a:avLst>
              <a:gd name="adj" fmla="val 5556"/>
            </a:avLst>
          </a:prstGeom>
          <a:solidFill>
            <a:srgbClr val="2A2F35"/>
          </a:solidFill>
          <a:ln/>
        </p:spPr>
      </p:sp>
      <p:pic>
        <p:nvPicPr>
          <p:cNvPr id="10" name="Image 1" descr="First concept sheet: front and back views of the character plus close-up panels">    </p:cNvPr>
          <p:cNvPicPr>
            <a:picLocks noChangeAspect="1"/>
          </p:cNvPicPr>
          <p:nvPr/>
        </p:nvPicPr>
        <p:blipFill>
          <a:blip r:embed="rId2"/>
          <a:stretch>
            <a:fillRect/>
          </a:stretch>
        </p:blipFill>
        <p:spPr>
          <a:xfrm>
            <a:off x="2649921" y="2835167"/>
            <a:ext cx="1371561" cy="915027"/>
          </a:xfrm>
          <a:prstGeom prst="rect">
            <a:avLst/>
          </a:prstGeom>
        </p:spPr>
      </p:pic>
      <p:sp>
        <p:nvSpPr>
          <p:cNvPr id="11" name="Text 7"/>
          <p:cNvSpPr/>
          <p:nvPr/>
        </p:nvSpPr>
        <p:spPr>
          <a:xfrm>
            <a:off x="2649921" y="4429246"/>
            <a:ext cx="1431056" cy="43696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AABB9"/>
                </a:solidFill>
                <a:latin typeface="Public Sans" pitchFamily="34" charset="0"/>
                <a:ea typeface="Public Sans" pitchFamily="34" charset="-122"/>
                <a:cs typeface="Public Sans" pitchFamily="34" charset="-120"/>
              </a:rPr>
              <a:t>Good design, busy sheet</a:t>
            </a:r>
            <a:endParaRPr lang="en-US" sz="1200" dirty="0"/>
          </a:p>
        </p:txBody>
      </p:sp>
      <p:pic>
        <p:nvPicPr>
          <p:cNvPr id="12" name="Image 2" descr="arrow-right">    </p:cNvPr>
          <p:cNvPicPr>
            <a:picLocks noChangeAspect="1"/>
          </p:cNvPicPr>
          <p:nvPr/>
        </p:nvPicPr>
        <p:blipFill>
          <a:blip r:embed="rId3"/>
          <a:srcRect l="-12" r="-12" t="0" b="0"/>
          <a:stretch/>
        </p:blipFill>
        <p:spPr>
          <a:xfrm>
            <a:off x="4131710" y="3308031"/>
            <a:ext cx="253969" cy="152345"/>
          </a:xfrm>
          <a:prstGeom prst="rect">
            <a:avLst/>
          </a:prstGeom>
        </p:spPr>
      </p:pic>
      <p:sp>
        <p:nvSpPr>
          <p:cNvPr id="13" name="Text 8"/>
          <p:cNvSpPr/>
          <p:nvPr/>
        </p:nvSpPr>
        <p:spPr>
          <a:xfrm>
            <a:off x="4487213" y="1927594"/>
            <a:ext cx="1430965" cy="253918"/>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55C7F5"/>
                </a:solidFill>
                <a:latin typeface="Oswald" pitchFamily="34" charset="0"/>
                <a:ea typeface="Oswald" pitchFamily="34" charset="-122"/>
                <a:cs typeface="Oswald" pitchFamily="34" charset="-120"/>
              </a:rPr>
              <a:t>3 · Refined</a:t>
            </a:r>
            <a:endParaRPr lang="en-US" sz="1500" dirty="0"/>
          </a:p>
        </p:txBody>
      </p:sp>
      <p:sp>
        <p:nvSpPr>
          <p:cNvPr id="14" name="Text 9"/>
          <p:cNvSpPr/>
          <p:nvPr/>
        </p:nvSpPr>
        <p:spPr>
          <a:xfrm>
            <a:off x="4490388" y="2248142"/>
            <a:ext cx="1373815" cy="2089077"/>
          </a:xfrm>
          <a:prstGeom prst="roundRect">
            <a:avLst>
              <a:gd name="adj" fmla="val 5315"/>
            </a:avLst>
          </a:prstGeom>
          <a:solidFill>
            <a:srgbClr val="18212B"/>
          </a:solidFill>
          <a:ln w="6350">
            <a:solidFill>
              <a:srgbClr val="2A3644"/>
            </a:solidFill>
            <a:prstDash val="solid"/>
          </a:ln>
        </p:spPr>
        <p:txBody>
          <a:bodyPr wrap="square" lIns="108233" tIns="108233" rIns="57433" bIns="82833"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One view · A-pose · whole body · plain background · no panels or props</a:t>
            </a:r>
            <a:endParaRPr lang="en-US" sz="1200" dirty="0"/>
          </a:p>
        </p:txBody>
      </p:sp>
      <p:sp>
        <p:nvSpPr>
          <p:cNvPr id="15" name="Text 10"/>
          <p:cNvSpPr/>
          <p:nvPr/>
        </p:nvSpPr>
        <p:spPr>
          <a:xfrm>
            <a:off x="4487213" y="4429246"/>
            <a:ext cx="1430965" cy="43696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AABB9"/>
                </a:solidFill>
                <a:latin typeface="Public Sans" pitchFamily="34" charset="0"/>
                <a:ea typeface="Public Sans" pitchFamily="34" charset="-122"/>
                <a:cs typeface="Public Sans" pitchFamily="34" charset="-120"/>
              </a:rPr>
              <a:t>AI rewrites it for Tripo; I approve</a:t>
            </a:r>
            <a:endParaRPr lang="en-US" sz="1200" dirty="0"/>
          </a:p>
        </p:txBody>
      </p:sp>
      <p:pic>
        <p:nvPicPr>
          <p:cNvPr id="16" name="Image 3" descr="arrow-right">    </p:cNvPr>
          <p:cNvPicPr>
            <a:picLocks noChangeAspect="1"/>
          </p:cNvPicPr>
          <p:nvPr/>
        </p:nvPicPr>
        <p:blipFill>
          <a:blip r:embed="rId4"/>
          <a:srcRect l="-12" r="-12" t="0" b="0"/>
          <a:stretch/>
        </p:blipFill>
        <p:spPr>
          <a:xfrm>
            <a:off x="5968911" y="3308031"/>
            <a:ext cx="253969" cy="152345"/>
          </a:xfrm>
          <a:prstGeom prst="rect">
            <a:avLst/>
          </a:prstGeom>
        </p:spPr>
      </p:pic>
      <p:sp>
        <p:nvSpPr>
          <p:cNvPr id="17" name="Text 11"/>
          <p:cNvSpPr/>
          <p:nvPr/>
        </p:nvSpPr>
        <p:spPr>
          <a:xfrm>
            <a:off x="6324414" y="1927594"/>
            <a:ext cx="1431056" cy="253918"/>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55C7F5"/>
                </a:solidFill>
                <a:latin typeface="Oswald" pitchFamily="34" charset="0"/>
                <a:ea typeface="Oswald" pitchFamily="34" charset="-122"/>
                <a:cs typeface="Oswald" pitchFamily="34" charset="-120"/>
              </a:rPr>
              <a:t>4 · Clean image</a:t>
            </a:r>
            <a:endParaRPr lang="en-US" sz="1500" dirty="0"/>
          </a:p>
        </p:txBody>
      </p:sp>
      <p:sp>
        <p:nvSpPr>
          <p:cNvPr id="18" name="Shape 12"/>
          <p:cNvSpPr/>
          <p:nvPr/>
        </p:nvSpPr>
        <p:spPr>
          <a:xfrm>
            <a:off x="6324414" y="2244967"/>
            <a:ext cx="1371561" cy="2095427"/>
          </a:xfrm>
          <a:prstGeom prst="roundRect">
            <a:avLst>
              <a:gd name="adj" fmla="val 5556"/>
            </a:avLst>
          </a:prstGeom>
          <a:solidFill>
            <a:srgbClr val="D9D9D9"/>
          </a:solidFill>
          <a:ln/>
        </p:spPr>
      </p:sp>
      <p:pic>
        <p:nvPicPr>
          <p:cNvPr id="19" name="Image 4" descr="Refined front view of the character in an A-pose on a plain grey background">    </p:cNvPr>
          <p:cNvPicPr>
            <a:picLocks noChangeAspect="1"/>
          </p:cNvPicPr>
          <p:nvPr/>
        </p:nvPicPr>
        <p:blipFill>
          <a:blip r:embed="rId5"/>
          <a:stretch>
            <a:fillRect/>
          </a:stretch>
        </p:blipFill>
        <p:spPr>
          <a:xfrm>
            <a:off x="6324414" y="2264010"/>
            <a:ext cx="1371561" cy="2057341"/>
          </a:xfrm>
          <a:custGeom>
            <a:avLst/>
            <a:gdLst/>
            <a:ahLst/>
            <a:cxnLst/>
            <a:rect l="l" t="t" r="r" b="b"/>
            <a:pathLst>
              <a:path w="1371561" h="2057341">
                <a:moveTo>
                  <a:pt x="0" y="57157"/>
                </a:moveTo>
                <a:arcTo wR="76200" hR="76200" stAng="10800000" swAng="2915889"/>
                <a:lnTo>
                  <a:pt x="1345754" y="0"/>
                </a:lnTo>
                <a:arcTo wR="76200" hR="76200" stAng="18684111" swAng="2915889"/>
                <a:lnTo>
                  <a:pt x="1371561" y="2000184"/>
                </a:lnTo>
                <a:arcTo wR="76200" hR="76200" stAng="0" swAng="2915889"/>
                <a:lnTo>
                  <a:pt x="25806" y="2057341"/>
                </a:lnTo>
                <a:arcTo wR="76200" hR="76200" stAng="7884111" swAng="2915889"/>
                <a:close/>
              </a:path>
            </a:pathLst>
          </a:custGeom>
        </p:spPr>
      </p:pic>
      <p:sp>
        <p:nvSpPr>
          <p:cNvPr id="20" name="Text 13"/>
          <p:cNvSpPr/>
          <p:nvPr/>
        </p:nvSpPr>
        <p:spPr>
          <a:xfrm>
            <a:off x="6324414" y="4429246"/>
            <a:ext cx="1431056" cy="43696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AABB9"/>
                </a:solidFill>
                <a:latin typeface="Public Sans" pitchFamily="34" charset="0"/>
                <a:ea typeface="Public Sans" pitchFamily="34" charset="-122"/>
                <a:cs typeface="Public Sans" pitchFamily="34" charset="-120"/>
              </a:rPr>
              <a:t>Front, then back from it</a:t>
            </a:r>
            <a:endParaRPr lang="en-US" sz="1200" dirty="0"/>
          </a:p>
        </p:txBody>
      </p:sp>
      <p:pic>
        <p:nvPicPr>
          <p:cNvPr id="21" name="Image 5" descr="arrow-right">    </p:cNvPr>
          <p:cNvPicPr>
            <a:picLocks noChangeAspect="1"/>
          </p:cNvPicPr>
          <p:nvPr/>
        </p:nvPicPr>
        <p:blipFill>
          <a:blip r:embed="rId6"/>
          <a:srcRect l="-12" r="-12" t="0" b="0"/>
          <a:stretch/>
        </p:blipFill>
        <p:spPr>
          <a:xfrm>
            <a:off x="7806203" y="3308031"/>
            <a:ext cx="253969" cy="152345"/>
          </a:xfrm>
          <a:prstGeom prst="rect">
            <a:avLst/>
          </a:prstGeom>
        </p:spPr>
      </p:pic>
      <p:sp>
        <p:nvSpPr>
          <p:cNvPr id="22" name="Text 14"/>
          <p:cNvSpPr/>
          <p:nvPr/>
        </p:nvSpPr>
        <p:spPr>
          <a:xfrm>
            <a:off x="8161706" y="1927594"/>
            <a:ext cx="1431056" cy="253918"/>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55C7F5"/>
                </a:solidFill>
                <a:latin typeface="Oswald" pitchFamily="34" charset="0"/>
                <a:ea typeface="Oswald" pitchFamily="34" charset="-122"/>
                <a:cs typeface="Oswald" pitchFamily="34" charset="-120"/>
              </a:rPr>
              <a:t>5 · Tripo 3D</a:t>
            </a:r>
            <a:endParaRPr lang="en-US" sz="1500" dirty="0"/>
          </a:p>
        </p:txBody>
      </p:sp>
      <p:sp>
        <p:nvSpPr>
          <p:cNvPr id="23" name="Shape 15"/>
          <p:cNvSpPr/>
          <p:nvPr/>
        </p:nvSpPr>
        <p:spPr>
          <a:xfrm>
            <a:off x="8161706" y="2244967"/>
            <a:ext cx="1371561" cy="2095427"/>
          </a:xfrm>
          <a:prstGeom prst="roundRect">
            <a:avLst>
              <a:gd name="adj" fmla="val 5556"/>
            </a:avLst>
          </a:prstGeom>
          <a:solidFill>
            <a:srgbClr val="223040"/>
          </a:solidFill>
          <a:ln/>
        </p:spPr>
      </p:sp>
      <p:pic>
        <p:nvPicPr>
          <p:cNvPr id="24" name="Image 6" descr="The textured 3D character model generated in Tripo">    </p:cNvPr>
          <p:cNvPicPr>
            <a:picLocks noChangeAspect="1"/>
          </p:cNvPicPr>
          <p:nvPr/>
        </p:nvPicPr>
        <p:blipFill>
          <a:blip r:embed="rId7"/>
          <a:stretch>
            <a:fillRect/>
          </a:stretch>
        </p:blipFill>
        <p:spPr>
          <a:xfrm>
            <a:off x="8161706" y="2606900"/>
            <a:ext cx="1371561" cy="1371561"/>
          </a:xfrm>
          <a:prstGeom prst="rect">
            <a:avLst/>
          </a:prstGeom>
        </p:spPr>
      </p:pic>
      <p:sp>
        <p:nvSpPr>
          <p:cNvPr id="25" name="Text 16"/>
          <p:cNvSpPr/>
          <p:nvPr/>
        </p:nvSpPr>
        <p:spPr>
          <a:xfrm>
            <a:off x="8161706" y="4429246"/>
            <a:ext cx="1431056" cy="43696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AABB9"/>
                </a:solidFill>
                <a:latin typeface="Public Sans" pitchFamily="34" charset="0"/>
                <a:ea typeface="Public Sans" pitchFamily="34" charset="-122"/>
                <a:cs typeface="Public Sans" pitchFamily="34" charset="-120"/>
              </a:rPr>
              <a:t>Model, rig, animations</a:t>
            </a:r>
            <a:endParaRPr lang="en-US" sz="1200" dirty="0"/>
          </a:p>
        </p:txBody>
      </p:sp>
      <p:pic>
        <p:nvPicPr>
          <p:cNvPr id="26" name="Image 7" descr="arrow-right">    </p:cNvPr>
          <p:cNvPicPr>
            <a:picLocks noChangeAspect="1"/>
          </p:cNvPicPr>
          <p:nvPr/>
        </p:nvPicPr>
        <p:blipFill>
          <a:blip r:embed="rId8"/>
          <a:srcRect l="-12" r="-12" t="0" b="0"/>
          <a:stretch/>
        </p:blipFill>
        <p:spPr>
          <a:xfrm>
            <a:off x="9643494" y="3308031"/>
            <a:ext cx="253969" cy="152345"/>
          </a:xfrm>
          <a:prstGeom prst="rect">
            <a:avLst/>
          </a:prstGeom>
        </p:spPr>
      </p:pic>
      <p:sp>
        <p:nvSpPr>
          <p:cNvPr id="27" name="Text 17"/>
          <p:cNvSpPr/>
          <p:nvPr/>
        </p:nvSpPr>
        <p:spPr>
          <a:xfrm>
            <a:off x="9998997" y="2030487"/>
            <a:ext cx="1431056" cy="253918"/>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55C7F5"/>
                </a:solidFill>
                <a:latin typeface="Oswald" pitchFamily="34" charset="0"/>
                <a:ea typeface="Oswald" pitchFamily="34" charset="-122"/>
                <a:cs typeface="Oswald" pitchFamily="34" charset="-120"/>
              </a:rPr>
              <a:t>6 · In Unity</a:t>
            </a:r>
            <a:endParaRPr lang="en-US" sz="1500" dirty="0"/>
          </a:p>
        </p:txBody>
      </p:sp>
      <p:pic>
        <p:nvPicPr>
          <p:cNvPr id="28" name="Image 8" descr="The character in the game, magnetized at a curved ramp">    </p:cNvPr>
          <p:cNvPicPr>
            <a:picLocks noChangeAspect="1"/>
          </p:cNvPicPr>
          <p:nvPr/>
        </p:nvPicPr>
        <p:blipFill>
          <a:blip r:embed="rId9"/>
          <a:srcRect l="37983" r="37983" t="0" b="0"/>
          <a:stretch/>
        </p:blipFill>
        <p:spPr>
          <a:xfrm>
            <a:off x="9998997" y="2347857"/>
            <a:ext cx="1371561" cy="2095427"/>
          </a:xfrm>
          <a:prstGeom prst="roundRect">
            <a:avLst>
              <a:gd name="adj" fmla="val 5556"/>
            </a:avLst>
          </a:prstGeom>
        </p:spPr>
      </p:pic>
      <p:sp>
        <p:nvSpPr>
          <p:cNvPr id="29" name="Text 18"/>
          <p:cNvSpPr/>
          <p:nvPr/>
        </p:nvSpPr>
        <p:spPr>
          <a:xfrm>
            <a:off x="9998997" y="4532136"/>
            <a:ext cx="1431056" cy="23118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AABB9"/>
                </a:solidFill>
                <a:latin typeface="Public Sans" pitchFamily="34" charset="0"/>
                <a:ea typeface="Public Sans" pitchFamily="34" charset="-122"/>
                <a:cs typeface="Public Sans" pitchFamily="34" charset="-120"/>
              </a:rPr>
              <a:t>AI fits and wires it</a:t>
            </a:r>
            <a:endParaRPr lang="en-US" sz="1200" dirty="0"/>
          </a:p>
        </p:txBody>
      </p:sp>
      <p:sp>
        <p:nvSpPr>
          <p:cNvPr id="30" name="Text 19"/>
          <p:cNvSpPr/>
          <p:nvPr/>
        </p:nvSpPr>
        <p:spPr>
          <a:xfrm>
            <a:off x="812720" y="5120143"/>
            <a:ext cx="10883529"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FD8"/>
                </a:solidFill>
                <a:latin typeface="Public Sans" pitchFamily="34" charset="0"/>
                <a:ea typeface="Public Sans" pitchFamily="34" charset="-122"/>
                <a:cs typeface="Public Sans" pitchFamily="34" charset="-120"/>
              </a:rPr>
              <a:t>The second pass is the trick: image-to-3D wants one clean view, not a pretty concept sheet.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5C7F5"/>
                </a:solidFill>
                <a:latin typeface="Public Sans" pitchFamily="34" charset="0"/>
                <a:ea typeface="Public Sans" pitchFamily="34" charset="-122"/>
                <a:cs typeface="Public Sans" pitchFamily="34" charset="-120"/>
              </a:rPr>
              <a:t>EXAMPLE 1 · THE PLAYER</a:t>
            </a:r>
            <a:endParaRPr lang="en-US" sz="1300" dirty="0"/>
          </a:p>
        </p:txBody>
      </p:sp>
      <p:sp>
        <p:nvSpPr>
          <p:cNvPr id="3" name="Text 1"/>
          <p:cNvSpPr/>
          <p:nvPr>
            <p:ph type="title"/>
          </p:nvPr>
        </p:nvSpPr>
        <p:spPr>
          <a:xfrm>
            <a:off x="812720" y="1145400"/>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E8EDF1"/>
                </a:solidFill>
                <a:latin typeface="Oswald" pitchFamily="34" charset="0"/>
                <a:ea typeface="Oswald" pitchFamily="34" charset="-122"/>
                <a:cs typeface="Oswald" pitchFamily="34" charset="-120"/>
              </a:rPr>
              <a:t>A CONCEPT SHEET BECOMES A RIGGED HERO</a:t>
            </a:r>
            <a:endParaRPr lang="en-US" sz="3200" dirty="0"/>
          </a:p>
        </p:txBody>
      </p:sp>
      <p:sp>
        <p:nvSpPr>
          <p:cNvPr id="4" name="Text 2"/>
          <p:cNvSpPr/>
          <p:nvPr/>
        </p:nvSpPr>
        <p:spPr>
          <a:xfrm>
            <a:off x="812720" y="1903413"/>
            <a:ext cx="3662610"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ABB9"/>
                </a:solidFill>
                <a:latin typeface="Public Sans" pitchFamily="34" charset="0"/>
                <a:ea typeface="Public Sans" pitchFamily="34" charset="-122"/>
                <a:cs typeface="Public Sans" pitchFamily="34" charset="-120"/>
              </a:rPr>
              <a:t>FIRST TRY · MY PROMPT</a:t>
            </a:r>
            <a:endParaRPr lang="en-US" sz="1200" dirty="0"/>
          </a:p>
        </p:txBody>
      </p:sp>
      <p:sp>
        <p:nvSpPr>
          <p:cNvPr id="5" name="Text 3"/>
          <p:cNvSpPr/>
          <p:nvPr/>
        </p:nvSpPr>
        <p:spPr>
          <a:xfrm>
            <a:off x="815895" y="2221514"/>
            <a:ext cx="3549582" cy="1112781"/>
          </a:xfrm>
          <a:prstGeom prst="roundRect">
            <a:avLst>
              <a:gd name="adj" fmla="val 6562"/>
            </a:avLst>
          </a:prstGeom>
          <a:solidFill>
            <a:srgbClr val="18212B"/>
          </a:solidFill>
          <a:ln w="6350">
            <a:solidFill>
              <a:srgbClr val="2A3644"/>
            </a:solidFill>
            <a:prstDash val="solid"/>
          </a:ln>
        </p:spPr>
        <p:txBody>
          <a:bodyPr wrap="square" lIns="108233" tIns="108233" rIns="9523" bIns="82833"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“Athletic man in blue jumpsuit with sci-fi exoskeleton, glowing blue circle on chest and back plate. Front and back views. Sci-fi cyberpunk boots with flat gray panels.”</a:t>
            </a:r>
            <a:endParaRPr lang="en-US" sz="1200" dirty="0"/>
          </a:p>
        </p:txBody>
      </p:sp>
      <p:pic>
        <p:nvPicPr>
          <p:cNvPr id="6" name="Image 0" descr="Concept sheet with front and back views, a face close-up, chest detail and boot close-ups">    </p:cNvPr>
          <p:cNvPicPr>
            <a:picLocks noChangeAspect="1"/>
          </p:cNvPicPr>
          <p:nvPr/>
        </p:nvPicPr>
        <p:blipFill>
          <a:blip r:embed="rId1"/>
          <a:srcRect l="-80" r="-80" t="0" b="0"/>
          <a:stretch/>
        </p:blipFill>
        <p:spPr>
          <a:xfrm>
            <a:off x="812720" y="3439002"/>
            <a:ext cx="3555932" cy="2368508"/>
          </a:xfrm>
          <a:prstGeom prst="roundRect">
            <a:avLst>
              <a:gd name="adj" fmla="val 3217"/>
            </a:avLst>
          </a:prstGeom>
        </p:spPr>
      </p:pic>
      <p:pic>
        <p:nvPicPr>
          <p:cNvPr id="7" name="Image 1" descr="arrow-right">    </p:cNvPr>
          <p:cNvPicPr>
            <a:picLocks noChangeAspect="1"/>
          </p:cNvPicPr>
          <p:nvPr/>
        </p:nvPicPr>
        <p:blipFill>
          <a:blip r:embed="rId2"/>
          <a:srcRect l="-3" r="-3" t="0" b="0"/>
          <a:stretch/>
        </p:blipFill>
        <p:spPr>
          <a:xfrm>
            <a:off x="4520997" y="3760174"/>
            <a:ext cx="304781" cy="190477"/>
          </a:xfrm>
          <a:prstGeom prst="rect">
            <a:avLst/>
          </a:prstGeom>
        </p:spPr>
      </p:pic>
      <p:sp>
        <p:nvSpPr>
          <p:cNvPr id="8" name="Text 4"/>
          <p:cNvSpPr/>
          <p:nvPr/>
        </p:nvSpPr>
        <p:spPr>
          <a:xfrm>
            <a:off x="4978123" y="2126946"/>
            <a:ext cx="3401021"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ABB9"/>
                </a:solidFill>
                <a:latin typeface="Public Sans" pitchFamily="34" charset="0"/>
                <a:ea typeface="Public Sans" pitchFamily="34" charset="-122"/>
                <a:cs typeface="Public Sans" pitchFamily="34" charset="-120"/>
              </a:rPr>
              <a:t>REFINED FOR TRIPO</a:t>
            </a:r>
            <a:endParaRPr lang="en-US" sz="1200" dirty="0"/>
          </a:p>
        </p:txBody>
      </p:sp>
      <p:sp>
        <p:nvSpPr>
          <p:cNvPr id="9" name="Text 5"/>
          <p:cNvSpPr/>
          <p:nvPr/>
        </p:nvSpPr>
        <p:spPr>
          <a:xfrm>
            <a:off x="4978123" y="2441873"/>
            <a:ext cx="3401021" cy="66557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Front view only, back view made from it · A-pose, arms 45° out · plain grey background, no shadows · slim silhouette, nothing loose</a:t>
            </a:r>
            <a:endParaRPr lang="en-US" sz="1200" dirty="0"/>
          </a:p>
        </p:txBody>
      </p:sp>
      <p:sp>
        <p:nvSpPr>
          <p:cNvPr id="10" name="Shape 6"/>
          <p:cNvSpPr/>
          <p:nvPr/>
        </p:nvSpPr>
        <p:spPr>
          <a:xfrm>
            <a:off x="4978123" y="3183582"/>
            <a:ext cx="1600169" cy="2400299"/>
          </a:xfrm>
          <a:prstGeom prst="roundRect">
            <a:avLst>
              <a:gd name="adj" fmla="val 4762"/>
            </a:avLst>
          </a:prstGeom>
          <a:solidFill>
            <a:srgbClr val="D9D9D9"/>
          </a:solidFill>
          <a:ln/>
        </p:spPr>
      </p:sp>
      <p:pic>
        <p:nvPicPr>
          <p:cNvPr id="11" name="Image 2" descr="Refined front view in an A-pose">    </p:cNvPr>
          <p:cNvPicPr>
            <a:picLocks noChangeAspect="1"/>
          </p:cNvPicPr>
          <p:nvPr/>
        </p:nvPicPr>
        <p:blipFill>
          <a:blip r:embed="rId3"/>
          <a:srcRect l="0" r="0" t="-1" b="-1"/>
          <a:stretch/>
        </p:blipFill>
        <p:spPr>
          <a:xfrm>
            <a:off x="4978123" y="3183582"/>
            <a:ext cx="1600169" cy="2400299"/>
          </a:xfrm>
          <a:prstGeom prst="roundRect">
            <a:avLst>
              <a:gd name="adj" fmla="val 4762"/>
            </a:avLst>
          </a:prstGeom>
        </p:spPr>
      </p:pic>
      <p:sp>
        <p:nvSpPr>
          <p:cNvPr id="12" name="Shape 7"/>
          <p:cNvSpPr/>
          <p:nvPr/>
        </p:nvSpPr>
        <p:spPr>
          <a:xfrm>
            <a:off x="6679826" y="3183582"/>
            <a:ext cx="1600169" cy="2400299"/>
          </a:xfrm>
          <a:prstGeom prst="roundRect">
            <a:avLst>
              <a:gd name="adj" fmla="val 4762"/>
            </a:avLst>
          </a:prstGeom>
          <a:solidFill>
            <a:srgbClr val="D9D9D9"/>
          </a:solidFill>
          <a:ln/>
        </p:spPr>
      </p:sp>
      <p:pic>
        <p:nvPicPr>
          <p:cNvPr id="13" name="Image 3" descr="Matching back view in the same pose">    </p:cNvPr>
          <p:cNvPicPr>
            <a:picLocks noChangeAspect="1"/>
          </p:cNvPicPr>
          <p:nvPr/>
        </p:nvPicPr>
        <p:blipFill>
          <a:blip r:embed="rId4"/>
          <a:srcRect l="0" r="0" t="-1" b="-1"/>
          <a:stretch/>
        </p:blipFill>
        <p:spPr>
          <a:xfrm>
            <a:off x="6679826" y="3183582"/>
            <a:ext cx="1600169" cy="2400299"/>
          </a:xfrm>
          <a:prstGeom prst="roundRect">
            <a:avLst>
              <a:gd name="adj" fmla="val 4762"/>
            </a:avLst>
          </a:prstGeom>
        </p:spPr>
      </p:pic>
      <p:pic>
        <p:nvPicPr>
          <p:cNvPr id="14" name="Image 4" descr="arrow-right">    </p:cNvPr>
          <p:cNvPicPr>
            <a:picLocks noChangeAspect="1"/>
          </p:cNvPicPr>
          <p:nvPr/>
        </p:nvPicPr>
        <p:blipFill>
          <a:blip r:embed="rId5"/>
          <a:srcRect l="-3" r="-3" t="0" b="0"/>
          <a:stretch/>
        </p:blipFill>
        <p:spPr>
          <a:xfrm>
            <a:off x="8432431" y="3760174"/>
            <a:ext cx="304781" cy="190477"/>
          </a:xfrm>
          <a:prstGeom prst="rect">
            <a:avLst/>
          </a:prstGeom>
        </p:spPr>
      </p:pic>
      <p:sp>
        <p:nvSpPr>
          <p:cNvPr id="15" name="Text 8"/>
          <p:cNvSpPr/>
          <p:nvPr/>
        </p:nvSpPr>
        <p:spPr>
          <a:xfrm>
            <a:off x="8889557" y="1846349"/>
            <a:ext cx="2564386"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ABB9"/>
                </a:solidFill>
                <a:latin typeface="Public Sans" pitchFamily="34" charset="0"/>
                <a:ea typeface="Public Sans" pitchFamily="34" charset="-122"/>
                <a:cs typeface="Public Sans" pitchFamily="34" charset="-120"/>
              </a:rPr>
              <a:t>TRIPO MODEL</a:t>
            </a:r>
            <a:endParaRPr lang="en-US" sz="1200" dirty="0"/>
          </a:p>
        </p:txBody>
      </p:sp>
      <p:sp>
        <p:nvSpPr>
          <p:cNvPr id="16" name="Shape 9"/>
          <p:cNvSpPr/>
          <p:nvPr/>
        </p:nvSpPr>
        <p:spPr>
          <a:xfrm>
            <a:off x="8889557" y="2161276"/>
            <a:ext cx="2349487" cy="2984410"/>
          </a:xfrm>
          <a:prstGeom prst="roundRect">
            <a:avLst>
              <a:gd name="adj" fmla="val 3243"/>
            </a:avLst>
          </a:prstGeom>
          <a:solidFill>
            <a:srgbClr val="18212B"/>
          </a:solidFill>
          <a:ln/>
        </p:spPr>
      </p:sp>
      <p:pic>
        <p:nvPicPr>
          <p:cNvPr id="17" name="Image 5" descr="The textured, rigged 3D character from Tripo">    </p:cNvPr>
          <p:cNvPicPr>
            <a:picLocks noChangeAspect="1"/>
          </p:cNvPicPr>
          <p:nvPr/>
        </p:nvPicPr>
        <p:blipFill>
          <a:blip r:embed="rId6"/>
          <a:stretch>
            <a:fillRect/>
          </a:stretch>
        </p:blipFill>
        <p:spPr>
          <a:xfrm>
            <a:off x="8889557" y="2478737"/>
            <a:ext cx="2349487" cy="2349487"/>
          </a:xfrm>
          <a:prstGeom prst="rect">
            <a:avLst/>
          </a:prstGeom>
        </p:spPr>
      </p:pic>
      <p:sp>
        <p:nvSpPr>
          <p:cNvPr id="18" name="Text 10"/>
          <p:cNvSpPr/>
          <p:nvPr/>
        </p:nvSpPr>
        <p:spPr>
          <a:xfrm>
            <a:off x="8889557" y="5247221"/>
            <a:ext cx="2564386" cy="64275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FD8"/>
                </a:solidFill>
                <a:latin typeface="Public Sans" pitchFamily="34" charset="0"/>
                <a:ea typeface="Public Sans" pitchFamily="34" charset="-122"/>
                <a:cs typeface="Public Sans" pitchFamily="34" charset="-120"/>
              </a:rPr>
              <a:t>Humanoid rig; Idle, Walk, Run, Jump, plus four text-to-animation clips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5C7F5"/>
                </a:solidFill>
                <a:latin typeface="Public Sans" pitchFamily="34" charset="0"/>
                <a:ea typeface="Public Sans" pitchFamily="34" charset="-122"/>
                <a:cs typeface="Public Sans" pitchFamily="34" charset="-120"/>
              </a:rPr>
              <a:t>EXAMPLE 2 · THE TUBE ELEVATOR</a:t>
            </a:r>
            <a:endParaRPr lang="en-US" sz="1300" dirty="0"/>
          </a:p>
        </p:txBody>
      </p:sp>
      <p:sp>
        <p:nvSpPr>
          <p:cNvPr id="3" name="Text 1"/>
          <p:cNvSpPr/>
          <p:nvPr>
            <p:ph type="title"/>
          </p:nvPr>
        </p:nvSpPr>
        <p:spPr>
          <a:xfrm>
            <a:off x="812720" y="1145394"/>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E8EDF1"/>
                </a:solidFill>
                <a:latin typeface="Oswald" pitchFamily="34" charset="0"/>
                <a:ea typeface="Oswald" pitchFamily="34" charset="-122"/>
                <a:cs typeface="Oswald" pitchFamily="34" charset="-120"/>
              </a:rPr>
              <a:t>FOUR IMAGES, STEERED BY EYE</a:t>
            </a:r>
            <a:endParaRPr lang="en-US" sz="3200" dirty="0"/>
          </a:p>
        </p:txBody>
      </p:sp>
      <p:sp>
        <p:nvSpPr>
          <p:cNvPr id="4" name="Shape 2"/>
          <p:cNvSpPr/>
          <p:nvPr/>
        </p:nvSpPr>
        <p:spPr>
          <a:xfrm>
            <a:off x="812720" y="1871706"/>
            <a:ext cx="1828778" cy="2666949"/>
          </a:xfrm>
          <a:prstGeom prst="roundRect">
            <a:avLst>
              <a:gd name="adj" fmla="val 4167"/>
            </a:avLst>
          </a:prstGeom>
          <a:solidFill>
            <a:srgbClr val="14181D"/>
          </a:solidFill>
          <a:ln/>
        </p:spPr>
      </p:sp>
      <p:pic>
        <p:nvPicPr>
          <p:cNvPr id="5" name="Image 0" descr="First concept: two glass elevator tubes with machinery at the base and top, front and back">    </p:cNvPr>
          <p:cNvPicPr>
            <a:picLocks noChangeAspect="1"/>
          </p:cNvPicPr>
          <p:nvPr/>
        </p:nvPicPr>
        <p:blipFill>
          <a:blip r:embed="rId1"/>
          <a:stretch>
            <a:fillRect/>
          </a:stretch>
        </p:blipFill>
        <p:spPr>
          <a:xfrm>
            <a:off x="812720" y="2595152"/>
            <a:ext cx="1828778" cy="1220056"/>
          </a:xfrm>
          <a:prstGeom prst="rect">
            <a:avLst/>
          </a:prstGeom>
        </p:spPr>
      </p:pic>
      <p:sp>
        <p:nvSpPr>
          <p:cNvPr id="6" name="Text 3"/>
          <p:cNvSpPr/>
          <p:nvPr/>
        </p:nvSpPr>
        <p:spPr>
          <a:xfrm>
            <a:off x="812720" y="4640188"/>
            <a:ext cx="1883734" cy="642752"/>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C3CFD8"/>
                </a:solidFill>
                <a:latin typeface="Public Sans" pitchFamily="34" charset="0"/>
                <a:ea typeface="Public Sans" pitchFamily="34" charset="-122"/>
                <a:cs typeface="Public Sans" pitchFamily="34" charset="-120"/>
              </a:rPr>
              <a:t>1 · My prompt.</a:t>
            </a:r>
            <a:r>
              <a:rPr lang="en-US" sz="1200" dirty="0">
                <a:solidFill>
                  <a:srgbClr val="C3CFD8"/>
                </a:solidFill>
                <a:latin typeface="Public Sans" pitchFamily="34" charset="0"/>
                <a:ea typeface="Public Sans" pitchFamily="34" charset="-122"/>
                <a:cs typeface="Public Sans" pitchFamily="34" charset="-120"/>
              </a:rPr>
              <a:t> Glass tube, machinery at base and top.</a:t>
            </a:r>
            <a:endParaRPr lang="en-US" sz="1200" dirty="0"/>
          </a:p>
        </p:txBody>
      </p:sp>
      <p:pic>
        <p:nvPicPr>
          <p:cNvPr id="7" name="Image 1" descr="arrow-right">    </p:cNvPr>
          <p:cNvPicPr>
            <a:picLocks noChangeAspect="1"/>
          </p:cNvPicPr>
          <p:nvPr/>
        </p:nvPicPr>
        <p:blipFill>
          <a:blip r:embed="rId2"/>
          <a:srcRect l="0" r="0" t="-5" b="-5"/>
          <a:stretch/>
        </p:blipFill>
        <p:spPr>
          <a:xfrm>
            <a:off x="2717761" y="3501132"/>
            <a:ext cx="203157" cy="126985"/>
          </a:xfrm>
          <a:prstGeom prst="rect">
            <a:avLst/>
          </a:prstGeom>
        </p:spPr>
      </p:pic>
      <p:sp>
        <p:nvSpPr>
          <p:cNvPr id="8" name="Shape 4"/>
          <p:cNvSpPr/>
          <p:nvPr/>
        </p:nvSpPr>
        <p:spPr>
          <a:xfrm>
            <a:off x="2997091" y="1871706"/>
            <a:ext cx="1828778" cy="2666949"/>
          </a:xfrm>
          <a:prstGeom prst="roundRect">
            <a:avLst>
              <a:gd name="adj" fmla="val 4167"/>
            </a:avLst>
          </a:prstGeom>
          <a:solidFill>
            <a:srgbClr val="D9D9D9"/>
          </a:solidFill>
          <a:ln/>
        </p:spPr>
      </p:sp>
      <p:pic>
        <p:nvPicPr>
          <p:cNvPr id="9" name="Image 2" descr="Tripo-ready version: a plain open frame with thin blue bands">    </p:cNvPr>
          <p:cNvPicPr>
            <a:picLocks noChangeAspect="1"/>
          </p:cNvPicPr>
          <p:nvPr/>
        </p:nvPicPr>
        <p:blipFill>
          <a:blip r:embed="rId3"/>
          <a:stretch>
            <a:fillRect/>
          </a:stretch>
        </p:blipFill>
        <p:spPr>
          <a:xfrm>
            <a:off x="3022497" y="1871706"/>
            <a:ext cx="1777966" cy="2666949"/>
          </a:xfrm>
          <a:custGeom>
            <a:avLst/>
            <a:gdLst/>
            <a:ahLst/>
            <a:cxnLst/>
            <a:rect l="l" t="t" r="r" b="b"/>
            <a:pathLst>
              <a:path w="1777966" h="2666949">
                <a:moveTo>
                  <a:pt x="0" y="19399"/>
                </a:moveTo>
                <a:arcTo wR="76200" hR="76200" stAng="13691743" swAng="2508257"/>
                <a:lnTo>
                  <a:pt x="1727172" y="0"/>
                </a:lnTo>
                <a:arcTo wR="76200" hR="76200" stAng="16200000" swAng="2508257"/>
                <a:lnTo>
                  <a:pt x="1777966" y="2647550"/>
                </a:lnTo>
                <a:arcTo wR="76200" hR="76200" stAng="2891743" swAng="2508257"/>
                <a:lnTo>
                  <a:pt x="50794" y="2666949"/>
                </a:lnTo>
                <a:arcTo wR="76200" hR="76200" stAng="5400000" swAng="2508257"/>
                <a:close/>
              </a:path>
            </a:pathLst>
          </a:custGeom>
        </p:spPr>
      </p:pic>
      <p:sp>
        <p:nvSpPr>
          <p:cNvPr id="10" name="Text 5"/>
          <p:cNvSpPr/>
          <p:nvPr/>
        </p:nvSpPr>
        <p:spPr>
          <a:xfrm>
            <a:off x="2997091" y="4640188"/>
            <a:ext cx="1883828" cy="436968"/>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C3CFD8"/>
                </a:solidFill>
                <a:latin typeface="Public Sans" pitchFamily="34" charset="0"/>
                <a:ea typeface="Public Sans" pitchFamily="34" charset="-122"/>
                <a:cs typeface="Public Sans" pitchFamily="34" charset="-120"/>
              </a:rPr>
              <a:t>2 · Tripo-ready.</a:t>
            </a:r>
            <a:r>
              <a:rPr lang="en-US" sz="1200" dirty="0">
                <a:solidFill>
                  <a:srgbClr val="C3CFD8"/>
                </a:solidFill>
                <a:latin typeface="Public Sans" pitchFamily="34" charset="0"/>
                <a:ea typeface="Public Sans" pitchFamily="34" charset="-122"/>
                <a:cs typeface="Public Sans" pitchFamily="34" charset="-120"/>
              </a:rPr>
              <a:t> One view, open frame. “Too plain.”</a:t>
            </a:r>
            <a:endParaRPr lang="en-US" sz="1200" dirty="0"/>
          </a:p>
        </p:txBody>
      </p:sp>
      <p:pic>
        <p:nvPicPr>
          <p:cNvPr id="11" name="Image 3" descr="arrow-right">    </p:cNvPr>
          <p:cNvPicPr>
            <a:picLocks noChangeAspect="1"/>
          </p:cNvPicPr>
          <p:nvPr/>
        </p:nvPicPr>
        <p:blipFill>
          <a:blip r:embed="rId4"/>
          <a:srcRect l="0" r="0" t="-5" b="-5"/>
          <a:stretch/>
        </p:blipFill>
        <p:spPr>
          <a:xfrm>
            <a:off x="4902222" y="3501132"/>
            <a:ext cx="203157" cy="126985"/>
          </a:xfrm>
          <a:prstGeom prst="rect">
            <a:avLst/>
          </a:prstGeom>
        </p:spPr>
      </p:pic>
      <p:sp>
        <p:nvSpPr>
          <p:cNvPr id="12" name="Shape 6"/>
          <p:cNvSpPr/>
          <p:nvPr/>
        </p:nvSpPr>
        <p:spPr>
          <a:xfrm>
            <a:off x="5181552" y="1871706"/>
            <a:ext cx="1828778" cy="2666949"/>
          </a:xfrm>
          <a:prstGeom prst="roundRect">
            <a:avLst>
              <a:gd name="adj" fmla="val 4167"/>
            </a:avLst>
          </a:prstGeom>
          <a:solidFill>
            <a:srgbClr val="D9D9D9"/>
          </a:solidFill>
          <a:ln/>
        </p:spPr>
      </p:sp>
      <p:pic>
        <p:nvPicPr>
          <p:cNvPr id="13" name="Image 4" descr="Heavier version: a dense mechanical collar and crown with pipes">    </p:cNvPr>
          <p:cNvPicPr>
            <a:picLocks noChangeAspect="1"/>
          </p:cNvPicPr>
          <p:nvPr/>
        </p:nvPicPr>
        <p:blipFill>
          <a:blip r:embed="rId5"/>
          <a:stretch>
            <a:fillRect/>
          </a:stretch>
        </p:blipFill>
        <p:spPr>
          <a:xfrm>
            <a:off x="5206958" y="1871706"/>
            <a:ext cx="1777966" cy="2666949"/>
          </a:xfrm>
          <a:custGeom>
            <a:avLst/>
            <a:gdLst/>
            <a:ahLst/>
            <a:cxnLst/>
            <a:rect l="l" t="t" r="r" b="b"/>
            <a:pathLst>
              <a:path w="1777966" h="2666949">
                <a:moveTo>
                  <a:pt x="0" y="19399"/>
                </a:moveTo>
                <a:arcTo wR="76200" hR="76200" stAng="13691743" swAng="2508257"/>
                <a:lnTo>
                  <a:pt x="1727172" y="0"/>
                </a:lnTo>
                <a:arcTo wR="76200" hR="76200" stAng="16200000" swAng="2508257"/>
                <a:lnTo>
                  <a:pt x="1777966" y="2647550"/>
                </a:lnTo>
                <a:arcTo wR="76200" hR="76200" stAng="2891743" swAng="2508257"/>
                <a:lnTo>
                  <a:pt x="50794" y="2666949"/>
                </a:lnTo>
                <a:arcTo wR="76200" hR="76200" stAng="5400000" swAng="2508257"/>
                <a:close/>
              </a:path>
            </a:pathLst>
          </a:custGeom>
        </p:spPr>
      </p:pic>
      <p:sp>
        <p:nvSpPr>
          <p:cNvPr id="14" name="Text 7"/>
          <p:cNvSpPr/>
          <p:nvPr/>
        </p:nvSpPr>
        <p:spPr>
          <a:xfrm>
            <a:off x="5181552" y="4640188"/>
            <a:ext cx="1883734" cy="436968"/>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C3CFD8"/>
                </a:solidFill>
                <a:latin typeface="Public Sans" pitchFamily="34" charset="0"/>
                <a:ea typeface="Public Sans" pitchFamily="34" charset="-122"/>
                <a:cs typeface="Public Sans" pitchFamily="34" charset="-120"/>
              </a:rPr>
              <a:t>3 · Heavier.</a:t>
            </a:r>
            <a:r>
              <a:rPr lang="en-US" sz="1200" dirty="0">
                <a:solidFill>
                  <a:srgbClr val="C3CFD8"/>
                </a:solidFill>
                <a:latin typeface="Public Sans" pitchFamily="34" charset="0"/>
                <a:ea typeface="Public Sans" pitchFamily="34" charset="-122"/>
                <a:cs typeface="Public Sans" pitchFamily="34" charset="-120"/>
              </a:rPr>
              <a:t> Collar and crown, pipes, protrusions.</a:t>
            </a:r>
            <a:endParaRPr lang="en-US" sz="1200" dirty="0"/>
          </a:p>
        </p:txBody>
      </p:sp>
      <p:pic>
        <p:nvPicPr>
          <p:cNvPr id="15" name="Image 5" descr="arrow-right">    </p:cNvPr>
          <p:cNvPicPr>
            <a:picLocks noChangeAspect="1"/>
          </p:cNvPicPr>
          <p:nvPr/>
        </p:nvPicPr>
        <p:blipFill>
          <a:blip r:embed="rId6"/>
          <a:srcRect l="0" r="0" t="-5" b="-5"/>
          <a:stretch/>
        </p:blipFill>
        <p:spPr>
          <a:xfrm>
            <a:off x="7086593" y="3501132"/>
            <a:ext cx="203157" cy="126985"/>
          </a:xfrm>
          <a:prstGeom prst="rect">
            <a:avLst/>
          </a:prstGeom>
        </p:spPr>
      </p:pic>
      <p:sp>
        <p:nvSpPr>
          <p:cNvPr id="16" name="Shape 8"/>
          <p:cNvSpPr/>
          <p:nvPr/>
        </p:nvSpPr>
        <p:spPr>
          <a:xfrm>
            <a:off x="7365923" y="1871706"/>
            <a:ext cx="1828778" cy="2666949"/>
          </a:xfrm>
          <a:prstGeom prst="roundRect">
            <a:avLst>
              <a:gd name="adj" fmla="val 4167"/>
            </a:avLst>
          </a:prstGeom>
          <a:solidFill>
            <a:srgbClr val="D9D9D9"/>
          </a:solidFill>
          <a:ln/>
        </p:spPr>
      </p:sp>
      <p:pic>
        <p:nvPicPr>
          <p:cNvPr id="17" name="Image 6" descr="Final concept: the heavy elevator with three lit steps up to its doorway">    </p:cNvPr>
          <p:cNvPicPr>
            <a:picLocks noChangeAspect="1"/>
          </p:cNvPicPr>
          <p:nvPr/>
        </p:nvPicPr>
        <p:blipFill>
          <a:blip r:embed="rId7"/>
          <a:stretch>
            <a:fillRect/>
          </a:stretch>
        </p:blipFill>
        <p:spPr>
          <a:xfrm>
            <a:off x="7391329" y="1871706"/>
            <a:ext cx="1777966" cy="2666949"/>
          </a:xfrm>
          <a:custGeom>
            <a:avLst/>
            <a:gdLst/>
            <a:ahLst/>
            <a:cxnLst/>
            <a:rect l="l" t="t" r="r" b="b"/>
            <a:pathLst>
              <a:path w="1777966" h="2666949">
                <a:moveTo>
                  <a:pt x="0" y="19399"/>
                </a:moveTo>
                <a:arcTo wR="76200" hR="76200" stAng="13691743" swAng="2508257"/>
                <a:lnTo>
                  <a:pt x="1727172" y="0"/>
                </a:lnTo>
                <a:arcTo wR="76200" hR="76200" stAng="16200000" swAng="2508257"/>
                <a:lnTo>
                  <a:pt x="1777966" y="2647550"/>
                </a:lnTo>
                <a:arcTo wR="76200" hR="76200" stAng="2891743" swAng="2508257"/>
                <a:lnTo>
                  <a:pt x="50794" y="2666949"/>
                </a:lnTo>
                <a:arcTo wR="76200" hR="76200" stAng="5400000" swAng="2508257"/>
                <a:close/>
              </a:path>
            </a:pathLst>
          </a:custGeom>
        </p:spPr>
      </p:pic>
      <p:sp>
        <p:nvSpPr>
          <p:cNvPr id="18" name="Text 9"/>
          <p:cNvSpPr/>
          <p:nvPr/>
        </p:nvSpPr>
        <p:spPr>
          <a:xfrm>
            <a:off x="7365923" y="4640188"/>
            <a:ext cx="1883828" cy="436968"/>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C3CFD8"/>
                </a:solidFill>
                <a:latin typeface="Public Sans" pitchFamily="34" charset="0"/>
                <a:ea typeface="Public Sans" pitchFamily="34" charset="-122"/>
                <a:cs typeface="Public Sans" pitchFamily="34" charset="-120"/>
              </a:rPr>
              <a:t>4 · Steps added.</a:t>
            </a:r>
            <a:r>
              <a:rPr lang="en-US" sz="1200" dirty="0">
                <a:solidFill>
                  <a:srgbClr val="C3CFD8"/>
                </a:solidFill>
                <a:latin typeface="Public Sans" pitchFamily="34" charset="0"/>
                <a:ea typeface="Public Sans" pitchFamily="34" charset="-122"/>
                <a:cs typeface="Public Sans" pitchFamily="34" charset="-120"/>
              </a:rPr>
              <a:t> Then a matching back view.</a:t>
            </a:r>
            <a:endParaRPr lang="en-US" sz="1200" dirty="0"/>
          </a:p>
        </p:txBody>
      </p:sp>
      <p:pic>
        <p:nvPicPr>
          <p:cNvPr id="19" name="Image 7" descr="arrow-right">    </p:cNvPr>
          <p:cNvPicPr>
            <a:picLocks noChangeAspect="1"/>
          </p:cNvPicPr>
          <p:nvPr/>
        </p:nvPicPr>
        <p:blipFill>
          <a:blip r:embed="rId8"/>
          <a:srcRect l="0" r="0" t="-5" b="-5"/>
          <a:stretch/>
        </p:blipFill>
        <p:spPr>
          <a:xfrm>
            <a:off x="9271055" y="3501132"/>
            <a:ext cx="203157" cy="126985"/>
          </a:xfrm>
          <a:prstGeom prst="rect">
            <a:avLst/>
          </a:prstGeom>
        </p:spPr>
      </p:pic>
      <p:sp>
        <p:nvSpPr>
          <p:cNvPr id="20" name="Shape 10"/>
          <p:cNvSpPr/>
          <p:nvPr/>
        </p:nvSpPr>
        <p:spPr>
          <a:xfrm>
            <a:off x="9550384" y="1871706"/>
            <a:ext cx="1828778" cy="2666949"/>
          </a:xfrm>
          <a:prstGeom prst="roundRect">
            <a:avLst>
              <a:gd name="adj" fmla="val 4167"/>
            </a:avLst>
          </a:prstGeom>
          <a:solidFill>
            <a:srgbClr val="18212B"/>
          </a:solidFill>
          <a:ln/>
        </p:spPr>
      </p:sp>
      <p:pic>
        <p:nvPicPr>
          <p:cNvPr id="21" name="Image 8" descr="The Tripo elevator model: an open cylindrical frame with a heavy collar and crown">    </p:cNvPr>
          <p:cNvPicPr>
            <a:picLocks noChangeAspect="1"/>
          </p:cNvPicPr>
          <p:nvPr/>
        </p:nvPicPr>
        <p:blipFill>
          <a:blip r:embed="rId9"/>
          <a:stretch>
            <a:fillRect/>
          </a:stretch>
        </p:blipFill>
        <p:spPr>
          <a:xfrm>
            <a:off x="9550384" y="2290791"/>
            <a:ext cx="1828778" cy="1828778"/>
          </a:xfrm>
          <a:prstGeom prst="rect">
            <a:avLst/>
          </a:prstGeom>
        </p:spPr>
      </p:pic>
      <p:sp>
        <p:nvSpPr>
          <p:cNvPr id="22" name="Text 11"/>
          <p:cNvSpPr/>
          <p:nvPr/>
        </p:nvSpPr>
        <p:spPr>
          <a:xfrm>
            <a:off x="9550384" y="4640188"/>
            <a:ext cx="1883734" cy="642752"/>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C3CFD8"/>
                </a:solidFill>
                <a:latin typeface="Public Sans" pitchFamily="34" charset="0"/>
                <a:ea typeface="Public Sans" pitchFamily="34" charset="-122"/>
                <a:cs typeface="Public Sans" pitchFamily="34" charset="-120"/>
              </a:rPr>
              <a:t>5 · Tripo model.</a:t>
            </a:r>
            <a:r>
              <a:rPr lang="en-US" sz="1200" dirty="0">
                <a:solidFill>
                  <a:srgbClr val="C3CFD8"/>
                </a:solidFill>
                <a:latin typeface="Public Sans" pitchFamily="34" charset="0"/>
                <a:ea typeface="Public Sans" pitchFamily="34" charset="-122"/>
                <a:cs typeface="Public Sans" pitchFamily="34" charset="-120"/>
              </a:rPr>
              <a:t> Its empty floor ring holds our moving platform.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5C7F5"/>
                </a:solidFill>
                <a:latin typeface="Public Sans" pitchFamily="34" charset="0"/>
                <a:ea typeface="Public Sans" pitchFamily="34" charset="-122"/>
                <a:cs typeface="Public Sans" pitchFamily="34" charset="-120"/>
              </a:rPr>
              <a:t>EXAMPLES 3 AND 4</a:t>
            </a:r>
            <a:endParaRPr lang="en-US" sz="1300" dirty="0"/>
          </a:p>
        </p:txBody>
      </p:sp>
      <p:sp>
        <p:nvSpPr>
          <p:cNvPr id="3" name="Text 1"/>
          <p:cNvSpPr/>
          <p:nvPr>
            <p:ph type="title"/>
          </p:nvPr>
        </p:nvSpPr>
        <p:spPr>
          <a:xfrm>
            <a:off x="812720" y="1145400"/>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E8EDF1"/>
                </a:solidFill>
                <a:latin typeface="Oswald" pitchFamily="34" charset="0"/>
                <a:ea typeface="Oswald" pitchFamily="34" charset="-122"/>
                <a:cs typeface="Oswald" pitchFamily="34" charset="-120"/>
              </a:rPr>
              <a:t>PROMPTING FOR HOW IT WILL BE USED</a:t>
            </a:r>
            <a:endParaRPr lang="en-US" sz="3200" dirty="0"/>
          </a:p>
        </p:txBody>
      </p:sp>
      <p:sp>
        <p:nvSpPr>
          <p:cNvPr id="4" name="Text 2"/>
          <p:cNvSpPr/>
          <p:nvPr/>
        </p:nvSpPr>
        <p:spPr>
          <a:xfrm>
            <a:off x="812720" y="2271775"/>
            <a:ext cx="2877751" cy="299658"/>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8EDF1"/>
                </a:solidFill>
                <a:latin typeface="Oswald" pitchFamily="34" charset="0"/>
                <a:ea typeface="Oswald" pitchFamily="34" charset="-122"/>
                <a:cs typeface="Oswald" pitchFamily="34" charset="-120"/>
              </a:rPr>
              <a:t>Sentry</a:t>
            </a:r>
            <a:endParaRPr lang="en-US" sz="1800" dirty="0"/>
          </a:p>
        </p:txBody>
      </p:sp>
      <p:sp>
        <p:nvSpPr>
          <p:cNvPr id="5" name="Text 3"/>
          <p:cNvSpPr/>
          <p:nvPr/>
        </p:nvSpPr>
        <p:spPr>
          <a:xfrm>
            <a:off x="812720" y="2622209"/>
            <a:ext cx="2877751" cy="66557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Asked for a domed head that reads as a separate part, so it could turn to aim on its own.</a:t>
            </a:r>
            <a:endParaRPr lang="en-US" sz="1200" dirty="0"/>
          </a:p>
        </p:txBody>
      </p:sp>
      <p:sp>
        <p:nvSpPr>
          <p:cNvPr id="6" name="Shape 4"/>
          <p:cNvSpPr/>
          <p:nvPr/>
        </p:nvSpPr>
        <p:spPr>
          <a:xfrm>
            <a:off x="3758998" y="1846349"/>
            <a:ext cx="2666949" cy="1841458"/>
          </a:xfrm>
          <a:prstGeom prst="roundRect">
            <a:avLst>
              <a:gd name="adj" fmla="val 4138"/>
            </a:avLst>
          </a:prstGeom>
          <a:solidFill>
            <a:srgbClr val="14181D"/>
          </a:solidFill>
          <a:ln/>
        </p:spPr>
      </p:sp>
      <p:pic>
        <p:nvPicPr>
          <p:cNvPr id="7" name="Image 0" descr="First sentry concept: a four-legged domed robot with a red eye, front and back">    </p:cNvPr>
          <p:cNvPicPr>
            <a:picLocks noChangeAspect="1"/>
          </p:cNvPicPr>
          <p:nvPr/>
        </p:nvPicPr>
        <p:blipFill>
          <a:blip r:embed="rId1"/>
          <a:stretch>
            <a:fillRect/>
          </a:stretch>
        </p:blipFill>
        <p:spPr>
          <a:xfrm>
            <a:off x="3758998" y="1877461"/>
            <a:ext cx="2666949" cy="1779236"/>
          </a:xfrm>
          <a:custGeom>
            <a:avLst/>
            <a:gdLst/>
            <a:ahLst/>
            <a:cxnLst/>
            <a:rect l="l" t="t" r="r" b="b"/>
            <a:pathLst>
              <a:path w="2666949" h="1779236">
                <a:moveTo>
                  <a:pt x="0" y="45089"/>
                </a:moveTo>
                <a:arcTo wR="76200" hR="76200" stAng="10800000" swAng="2176735"/>
                <a:lnTo>
                  <a:pt x="2652177" y="0"/>
                </a:lnTo>
                <a:arcTo wR="76200" hR="76200" stAng="19423265" swAng="2176735"/>
                <a:lnTo>
                  <a:pt x="2666949" y="1734147"/>
                </a:lnTo>
                <a:arcTo wR="76200" hR="76200" stAng="0" swAng="2176735"/>
                <a:lnTo>
                  <a:pt x="14772" y="1779236"/>
                </a:lnTo>
                <a:arcTo wR="76200" hR="76200" stAng="8623265" swAng="2176735"/>
                <a:close/>
              </a:path>
            </a:pathLst>
          </a:custGeom>
        </p:spPr>
      </p:pic>
      <p:pic>
        <p:nvPicPr>
          <p:cNvPr id="8" name="Image 1" descr="arrow-right">    </p:cNvPr>
          <p:cNvPicPr>
            <a:picLocks noChangeAspect="1"/>
          </p:cNvPicPr>
          <p:nvPr/>
        </p:nvPicPr>
        <p:blipFill>
          <a:blip r:embed="rId2"/>
          <a:srcRect l="0" r="0" t="-5" b="-5"/>
          <a:stretch/>
        </p:blipFill>
        <p:spPr>
          <a:xfrm>
            <a:off x="6578292" y="2703544"/>
            <a:ext cx="203157" cy="126985"/>
          </a:xfrm>
          <a:prstGeom prst="rect">
            <a:avLst/>
          </a:prstGeom>
        </p:spPr>
      </p:pic>
      <p:sp>
        <p:nvSpPr>
          <p:cNvPr id="9" name="Shape 5"/>
          <p:cNvSpPr/>
          <p:nvPr/>
        </p:nvSpPr>
        <p:spPr>
          <a:xfrm>
            <a:off x="6933795" y="1846349"/>
            <a:ext cx="1841458" cy="1841458"/>
          </a:xfrm>
          <a:prstGeom prst="roundRect">
            <a:avLst>
              <a:gd name="adj" fmla="val 4138"/>
            </a:avLst>
          </a:prstGeom>
          <a:solidFill>
            <a:srgbClr val="D9D9D9"/>
          </a:solidFill>
          <a:ln/>
        </p:spPr>
      </p:sp>
      <p:pic>
        <p:nvPicPr>
          <p:cNvPr id="10" name="Image 2" descr="Refined front view with a clear gap between dome and legs">    </p:cNvPr>
          <p:cNvPicPr>
            <a:picLocks noChangeAspect="1"/>
          </p:cNvPicPr>
          <p:nvPr/>
        </p:nvPicPr>
        <p:blipFill>
          <a:blip r:embed="rId3"/>
          <a:stretch>
            <a:fillRect/>
          </a:stretch>
        </p:blipFill>
        <p:spPr>
          <a:xfrm>
            <a:off x="6933795" y="1924948"/>
            <a:ext cx="1841458" cy="1684260"/>
          </a:xfrm>
          <a:prstGeom prst="rect">
            <a:avLst/>
          </a:prstGeom>
        </p:spPr>
      </p:pic>
      <p:pic>
        <p:nvPicPr>
          <p:cNvPr id="11" name="Image 3" descr="arrow-right">    </p:cNvPr>
          <p:cNvPicPr>
            <a:picLocks noChangeAspect="1"/>
          </p:cNvPicPr>
          <p:nvPr/>
        </p:nvPicPr>
        <p:blipFill>
          <a:blip r:embed="rId4"/>
          <a:srcRect l="0" r="0" t="-5" b="-5"/>
          <a:stretch/>
        </p:blipFill>
        <p:spPr>
          <a:xfrm>
            <a:off x="8927598" y="2703544"/>
            <a:ext cx="203157" cy="126985"/>
          </a:xfrm>
          <a:prstGeom prst="rect">
            <a:avLst/>
          </a:prstGeom>
        </p:spPr>
      </p:pic>
      <p:sp>
        <p:nvSpPr>
          <p:cNvPr id="12" name="Shape 6"/>
          <p:cNvSpPr/>
          <p:nvPr/>
        </p:nvSpPr>
        <p:spPr>
          <a:xfrm>
            <a:off x="9283101" y="1846349"/>
            <a:ext cx="1841458" cy="1841458"/>
          </a:xfrm>
          <a:prstGeom prst="roundRect">
            <a:avLst>
              <a:gd name="adj" fmla="val 4138"/>
            </a:avLst>
          </a:prstGeom>
          <a:solidFill>
            <a:srgbClr val="18212B"/>
          </a:solidFill>
          <a:ln/>
        </p:spPr>
      </p:sp>
      <p:pic>
        <p:nvPicPr>
          <p:cNvPr id="13" name="Image 4" descr="Tripo sentry model with its red laser eye">    </p:cNvPr>
          <p:cNvPicPr>
            <a:picLocks noChangeAspect="1"/>
          </p:cNvPicPr>
          <p:nvPr/>
        </p:nvPicPr>
        <p:blipFill>
          <a:blip r:embed="rId5"/>
          <a:srcRect l="0" r="0" t="0" b="0"/>
          <a:stretch/>
        </p:blipFill>
        <p:spPr>
          <a:xfrm>
            <a:off x="9283101" y="1846349"/>
            <a:ext cx="1841458" cy="1841458"/>
          </a:xfrm>
          <a:prstGeom prst="roundRect">
            <a:avLst>
              <a:gd name="adj" fmla="val 4138"/>
            </a:avLst>
          </a:prstGeom>
        </p:spPr>
      </p:pic>
      <p:sp>
        <p:nvSpPr>
          <p:cNvPr id="14" name="Text 7"/>
          <p:cNvSpPr/>
          <p:nvPr/>
        </p:nvSpPr>
        <p:spPr>
          <a:xfrm>
            <a:off x="812720" y="4367200"/>
            <a:ext cx="2877751" cy="299658"/>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8EDF1"/>
                </a:solidFill>
                <a:latin typeface="Oswald" pitchFamily="34" charset="0"/>
                <a:ea typeface="Oswald" pitchFamily="34" charset="-122"/>
                <a:cs typeface="Oswald" pitchFamily="34" charset="-120"/>
              </a:rPr>
              <a:t>Moving platform</a:t>
            </a:r>
            <a:endParaRPr lang="en-US" sz="1800" dirty="0"/>
          </a:p>
        </p:txBody>
      </p:sp>
      <p:sp>
        <p:nvSpPr>
          <p:cNvPr id="15" name="Text 8"/>
          <p:cNvSpPr/>
          <p:nvPr/>
        </p:nvSpPr>
        <p:spPr>
          <a:xfrm>
            <a:off x="812720" y="4717635"/>
            <a:ext cx="2877751" cy="66557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I spotted the thrusters underneath would hit the level, so: a flat slab, detail on the edges only.</a:t>
            </a:r>
            <a:endParaRPr lang="en-US" sz="1200" dirty="0"/>
          </a:p>
        </p:txBody>
      </p:sp>
      <p:sp>
        <p:nvSpPr>
          <p:cNvPr id="16" name="Shape 9"/>
          <p:cNvSpPr/>
          <p:nvPr/>
        </p:nvSpPr>
        <p:spPr>
          <a:xfrm>
            <a:off x="3758998" y="3941775"/>
            <a:ext cx="2666949" cy="1841458"/>
          </a:xfrm>
          <a:prstGeom prst="roundRect">
            <a:avLst>
              <a:gd name="adj" fmla="val 4138"/>
            </a:avLst>
          </a:prstGeom>
          <a:solidFill>
            <a:srgbClr val="D9D9D9"/>
          </a:solidFill>
          <a:ln/>
        </p:spPr>
      </p:sp>
      <p:pic>
        <p:nvPicPr>
          <p:cNvPr id="17" name="Image 5" descr="First platform concept with thrusters and pistons hanging below">    </p:cNvPr>
          <p:cNvPicPr>
            <a:picLocks noChangeAspect="1"/>
          </p:cNvPicPr>
          <p:nvPr/>
        </p:nvPicPr>
        <p:blipFill>
          <a:blip r:embed="rId6"/>
          <a:stretch>
            <a:fillRect/>
          </a:stretch>
        </p:blipFill>
        <p:spPr>
          <a:xfrm>
            <a:off x="3758998" y="3972886"/>
            <a:ext cx="2666949" cy="1779236"/>
          </a:xfrm>
          <a:custGeom>
            <a:avLst/>
            <a:gdLst/>
            <a:ahLst/>
            <a:cxnLst/>
            <a:rect l="l" t="t" r="r" b="b"/>
            <a:pathLst>
              <a:path w="2666949" h="1779236">
                <a:moveTo>
                  <a:pt x="0" y="45089"/>
                </a:moveTo>
                <a:arcTo wR="76200" hR="76200" stAng="10800000" swAng="2176735"/>
                <a:lnTo>
                  <a:pt x="2652177" y="0"/>
                </a:lnTo>
                <a:arcTo wR="76200" hR="76200" stAng="19423265" swAng="2176735"/>
                <a:lnTo>
                  <a:pt x="2666949" y="1734147"/>
                </a:lnTo>
                <a:arcTo wR="76200" hR="76200" stAng="0" swAng="2176735"/>
                <a:lnTo>
                  <a:pt x="14772" y="1779236"/>
                </a:lnTo>
                <a:arcTo wR="76200" hR="76200" stAng="8623265" swAng="2176735"/>
                <a:close/>
              </a:path>
            </a:pathLst>
          </a:custGeom>
        </p:spPr>
      </p:pic>
      <p:pic>
        <p:nvPicPr>
          <p:cNvPr id="18" name="Image 6" descr="arrow-right">    </p:cNvPr>
          <p:cNvPicPr>
            <a:picLocks noChangeAspect="1"/>
          </p:cNvPicPr>
          <p:nvPr/>
        </p:nvPicPr>
        <p:blipFill>
          <a:blip r:embed="rId7"/>
          <a:srcRect l="0" r="0" t="-5" b="-5"/>
          <a:stretch/>
        </p:blipFill>
        <p:spPr>
          <a:xfrm>
            <a:off x="6578292" y="4798969"/>
            <a:ext cx="203157" cy="126985"/>
          </a:xfrm>
          <a:prstGeom prst="rect">
            <a:avLst/>
          </a:prstGeom>
        </p:spPr>
      </p:pic>
      <p:sp>
        <p:nvSpPr>
          <p:cNvPr id="19" name="Shape 10"/>
          <p:cNvSpPr/>
          <p:nvPr/>
        </p:nvSpPr>
        <p:spPr>
          <a:xfrm>
            <a:off x="6933795" y="3941775"/>
            <a:ext cx="1841458" cy="1841458"/>
          </a:xfrm>
          <a:prstGeom prst="roundRect">
            <a:avLst>
              <a:gd name="adj" fmla="val 4138"/>
            </a:avLst>
          </a:prstGeom>
          <a:solidFill>
            <a:srgbClr val="14181D"/>
          </a:solidFill>
          <a:ln/>
        </p:spPr>
      </p:sp>
      <p:pic>
        <p:nvPicPr>
          <p:cNvPr id="20" name="Image 7" descr="Refined platform: a thin flat slab with lit edges">    </p:cNvPr>
          <p:cNvPicPr>
            <a:picLocks noChangeAspect="1"/>
          </p:cNvPicPr>
          <p:nvPr/>
        </p:nvPicPr>
        <p:blipFill>
          <a:blip r:embed="rId8"/>
          <a:stretch>
            <a:fillRect/>
          </a:stretch>
        </p:blipFill>
        <p:spPr>
          <a:xfrm>
            <a:off x="6933795" y="4248246"/>
            <a:ext cx="1841458" cy="1228516"/>
          </a:xfrm>
          <a:prstGeom prst="rect">
            <a:avLst/>
          </a:prstGeom>
        </p:spPr>
      </p:pic>
      <p:pic>
        <p:nvPicPr>
          <p:cNvPr id="21" name="Image 8" descr="arrow-right">    </p:cNvPr>
          <p:cNvPicPr>
            <a:picLocks noChangeAspect="1"/>
          </p:cNvPicPr>
          <p:nvPr/>
        </p:nvPicPr>
        <p:blipFill>
          <a:blip r:embed="rId9"/>
          <a:srcRect l="0" r="0" t="-5" b="-5"/>
          <a:stretch/>
        </p:blipFill>
        <p:spPr>
          <a:xfrm>
            <a:off x="8927598" y="4798969"/>
            <a:ext cx="203157" cy="126985"/>
          </a:xfrm>
          <a:prstGeom prst="rect">
            <a:avLst/>
          </a:prstGeom>
        </p:spPr>
      </p:pic>
      <p:sp>
        <p:nvSpPr>
          <p:cNvPr id="22" name="Shape 11"/>
          <p:cNvSpPr/>
          <p:nvPr/>
        </p:nvSpPr>
        <p:spPr>
          <a:xfrm>
            <a:off x="9283101" y="3941775"/>
            <a:ext cx="1841458" cy="1841458"/>
          </a:xfrm>
          <a:prstGeom prst="roundRect">
            <a:avLst>
              <a:gd name="adj" fmla="val 4138"/>
            </a:avLst>
          </a:prstGeom>
          <a:solidFill>
            <a:srgbClr val="18212B"/>
          </a:solidFill>
          <a:ln/>
        </p:spPr>
      </p:sp>
      <p:pic>
        <p:nvPicPr>
          <p:cNvPr id="23" name="Image 9" descr="Tripo platform deck model">    </p:cNvPr>
          <p:cNvPicPr>
            <a:picLocks noChangeAspect="1"/>
          </p:cNvPicPr>
          <p:nvPr/>
        </p:nvPicPr>
        <p:blipFill>
          <a:blip r:embed="rId10"/>
          <a:srcRect l="0" r="0" t="0" b="0"/>
          <a:stretch/>
        </p:blipFill>
        <p:spPr>
          <a:xfrm>
            <a:off x="9283101" y="3941775"/>
            <a:ext cx="1841458" cy="1841458"/>
          </a:xfrm>
          <a:prstGeom prst="roundRect">
            <a:avLst>
              <a:gd name="adj" fmla="val 4138"/>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5C7F5"/>
                </a:solidFill>
                <a:latin typeface="Public Sans" pitchFamily="34" charset="0"/>
                <a:ea typeface="Public Sans" pitchFamily="34" charset="-122"/>
                <a:cs typeface="Public Sans" pitchFamily="34" charset="-120"/>
              </a:rPr>
              <a:t>INTO THE ENGINE</a:t>
            </a:r>
            <a:endParaRPr lang="en-US" sz="1300" dirty="0"/>
          </a:p>
        </p:txBody>
      </p:sp>
      <p:sp>
        <p:nvSpPr>
          <p:cNvPr id="3" name="Text 1"/>
          <p:cNvSpPr/>
          <p:nvPr>
            <p:ph type="title"/>
          </p:nvPr>
        </p:nvSpPr>
        <p:spPr>
          <a:xfrm>
            <a:off x="812720" y="1145394"/>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E8EDF1"/>
                </a:solidFill>
                <a:latin typeface="Oswald" pitchFamily="34" charset="0"/>
                <a:ea typeface="Oswald" pitchFamily="34" charset="-122"/>
                <a:cs typeface="Oswald" pitchFamily="34" charset="-120"/>
              </a:rPr>
              <a:t>FROM TRIPO EXPORT TO PLAYABLE</a:t>
            </a:r>
            <a:endParaRPr lang="en-US" sz="3200" dirty="0"/>
          </a:p>
        </p:txBody>
      </p:sp>
      <p:sp>
        <p:nvSpPr>
          <p:cNvPr id="4" name="Shape 2"/>
          <p:cNvSpPr/>
          <p:nvPr/>
        </p:nvSpPr>
        <p:spPr>
          <a:xfrm>
            <a:off x="815895" y="1849524"/>
            <a:ext cx="2521024" cy="1320920"/>
          </a:xfrm>
          <a:prstGeom prst="roundRect">
            <a:avLst>
              <a:gd name="adj" fmla="val 7451"/>
            </a:avLst>
          </a:prstGeom>
          <a:solidFill>
            <a:srgbClr val="18212B"/>
          </a:solidFill>
          <a:ln w="6350">
            <a:solidFill>
              <a:srgbClr val="2A3644"/>
            </a:solidFill>
            <a:prstDash val="solid"/>
          </a:ln>
        </p:spPr>
      </p:sp>
      <p:sp>
        <p:nvSpPr>
          <p:cNvPr id="5" name="Text 3"/>
          <p:cNvSpPr/>
          <p:nvPr/>
        </p:nvSpPr>
        <p:spPr>
          <a:xfrm>
            <a:off x="996313" y="2029941"/>
            <a:ext cx="2224993" cy="269134"/>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E8EDF1"/>
                </a:solidFill>
                <a:latin typeface="Oswald" pitchFamily="34" charset="0"/>
                <a:ea typeface="Oswald" pitchFamily="34" charset="-122"/>
                <a:cs typeface="Oswald" pitchFamily="34" charset="-120"/>
              </a:rPr>
              <a:t>Scale and axes</a:t>
            </a:r>
            <a:endParaRPr lang="en-US" sz="1600" dirty="0"/>
          </a:p>
        </p:txBody>
      </p:sp>
      <p:sp>
        <p:nvSpPr>
          <p:cNvPr id="6" name="Text 4"/>
          <p:cNvSpPr/>
          <p:nvPr/>
        </p:nvSpPr>
        <p:spPr>
          <a:xfrm>
            <a:off x="996313" y="2349847"/>
            <a:ext cx="2224993" cy="66557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Exports arrive about 1 m tall and Z-up. The sentry first came in lying on its back.</a:t>
            </a:r>
            <a:endParaRPr lang="en-US" sz="1200" dirty="0"/>
          </a:p>
        </p:txBody>
      </p:sp>
      <p:sp>
        <p:nvSpPr>
          <p:cNvPr id="7" name="Shape 5"/>
          <p:cNvSpPr/>
          <p:nvPr/>
        </p:nvSpPr>
        <p:spPr>
          <a:xfrm>
            <a:off x="3495614" y="1849524"/>
            <a:ext cx="2521024" cy="1320920"/>
          </a:xfrm>
          <a:prstGeom prst="roundRect">
            <a:avLst>
              <a:gd name="adj" fmla="val 7451"/>
            </a:avLst>
          </a:prstGeom>
          <a:solidFill>
            <a:srgbClr val="18212B"/>
          </a:solidFill>
          <a:ln w="6350">
            <a:solidFill>
              <a:srgbClr val="2A3644"/>
            </a:solidFill>
            <a:prstDash val="solid"/>
          </a:ln>
        </p:spPr>
      </p:sp>
      <p:sp>
        <p:nvSpPr>
          <p:cNvPr id="8" name="Text 6"/>
          <p:cNvSpPr/>
          <p:nvPr/>
        </p:nvSpPr>
        <p:spPr>
          <a:xfrm>
            <a:off x="3676033" y="2029941"/>
            <a:ext cx="2224993" cy="269134"/>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E8EDF1"/>
                </a:solidFill>
                <a:latin typeface="Oswald" pitchFamily="34" charset="0"/>
                <a:ea typeface="Oswald" pitchFamily="34" charset="-122"/>
                <a:cs typeface="Oswald" pitchFamily="34" charset="-120"/>
              </a:rPr>
              <a:t>Split to animate</a:t>
            </a:r>
            <a:endParaRPr lang="en-US" sz="1600" dirty="0"/>
          </a:p>
        </p:txBody>
      </p:sp>
      <p:sp>
        <p:nvSpPr>
          <p:cNvPr id="9" name="Text 7"/>
          <p:cNvSpPr/>
          <p:nvPr/>
        </p:nvSpPr>
        <p:spPr>
          <a:xfrm>
            <a:off x="3676033" y="2349847"/>
            <a:ext cx="2224993" cy="66557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40 auto-segmented parts grouped into a body and a head that aims.</a:t>
            </a:r>
            <a:endParaRPr lang="en-US" sz="1200" dirty="0"/>
          </a:p>
        </p:txBody>
      </p:sp>
      <p:sp>
        <p:nvSpPr>
          <p:cNvPr id="10" name="Shape 8"/>
          <p:cNvSpPr/>
          <p:nvPr/>
        </p:nvSpPr>
        <p:spPr>
          <a:xfrm>
            <a:off x="6175334" y="1849524"/>
            <a:ext cx="2521024" cy="1320920"/>
          </a:xfrm>
          <a:prstGeom prst="roundRect">
            <a:avLst>
              <a:gd name="adj" fmla="val 7451"/>
            </a:avLst>
          </a:prstGeom>
          <a:solidFill>
            <a:srgbClr val="18212B"/>
          </a:solidFill>
          <a:ln w="6350">
            <a:solidFill>
              <a:srgbClr val="2A3644"/>
            </a:solidFill>
            <a:prstDash val="solid"/>
          </a:ln>
        </p:spPr>
      </p:sp>
      <p:sp>
        <p:nvSpPr>
          <p:cNvPr id="11" name="Text 9"/>
          <p:cNvSpPr/>
          <p:nvPr/>
        </p:nvSpPr>
        <p:spPr>
          <a:xfrm>
            <a:off x="6355752" y="2029941"/>
            <a:ext cx="2224993" cy="269134"/>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E8EDF1"/>
                </a:solidFill>
                <a:latin typeface="Oswald" pitchFamily="34" charset="0"/>
                <a:ea typeface="Oswald" pitchFamily="34" charset="-122"/>
                <a:cs typeface="Oswald" pitchFamily="34" charset="-120"/>
              </a:rPr>
              <a:t>Clips by playing</a:t>
            </a:r>
            <a:endParaRPr lang="en-US" sz="1600" dirty="0"/>
          </a:p>
        </p:txBody>
      </p:sp>
      <p:sp>
        <p:nvSpPr>
          <p:cNvPr id="12" name="Text 10"/>
          <p:cNvSpPr/>
          <p:nvPr/>
        </p:nvSpPr>
        <p:spPr>
          <a:xfrm>
            <a:off x="6355752" y="2349847"/>
            <a:ext cx="2224993" cy="66557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Three text-to-animation walks tried in game; the third, at 3 m/s, stayed.</a:t>
            </a:r>
            <a:endParaRPr lang="en-US" sz="1200" dirty="0"/>
          </a:p>
        </p:txBody>
      </p:sp>
      <p:sp>
        <p:nvSpPr>
          <p:cNvPr id="13" name="Shape 11"/>
          <p:cNvSpPr/>
          <p:nvPr/>
        </p:nvSpPr>
        <p:spPr>
          <a:xfrm>
            <a:off x="8855053" y="1849524"/>
            <a:ext cx="2521024" cy="1320920"/>
          </a:xfrm>
          <a:prstGeom prst="roundRect">
            <a:avLst>
              <a:gd name="adj" fmla="val 7451"/>
            </a:avLst>
          </a:prstGeom>
          <a:solidFill>
            <a:srgbClr val="18212B"/>
          </a:solidFill>
          <a:ln w="6350">
            <a:solidFill>
              <a:srgbClr val="2A3644"/>
            </a:solidFill>
            <a:prstDash val="solid"/>
          </a:ln>
        </p:spPr>
      </p:sp>
      <p:sp>
        <p:nvSpPr>
          <p:cNvPr id="14" name="Text 12"/>
          <p:cNvSpPr/>
          <p:nvPr/>
        </p:nvSpPr>
        <p:spPr>
          <a:xfrm>
            <a:off x="9035472" y="2029941"/>
            <a:ext cx="2224993" cy="269134"/>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E8EDF1"/>
                </a:solidFill>
                <a:latin typeface="Oswald" pitchFamily="34" charset="0"/>
                <a:ea typeface="Oswald" pitchFamily="34" charset="-122"/>
                <a:cs typeface="Oswald" pitchFamily="34" charset="-120"/>
              </a:rPr>
              <a:t>Skins on boxes</a:t>
            </a:r>
            <a:endParaRPr lang="en-US" sz="1600" dirty="0"/>
          </a:p>
        </p:txBody>
      </p:sp>
      <p:sp>
        <p:nvSpPr>
          <p:cNvPr id="15" name="Text 13"/>
          <p:cNvSpPr/>
          <p:nvPr/>
        </p:nvSpPr>
        <p:spPr>
          <a:xfrm>
            <a:off x="9035472" y="2349847"/>
            <a:ext cx="2224993" cy="66557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Models stretch over simple collider boxes, so the physics never changed.</a:t>
            </a:r>
            <a:endParaRPr lang="en-US" sz="1200" dirty="0"/>
          </a:p>
        </p:txBody>
      </p:sp>
      <p:sp>
        <p:nvSpPr>
          <p:cNvPr id="16" name="Shape 14"/>
          <p:cNvSpPr/>
          <p:nvPr/>
        </p:nvSpPr>
        <p:spPr>
          <a:xfrm>
            <a:off x="812720" y="3427586"/>
            <a:ext cx="1676433" cy="1676342"/>
          </a:xfrm>
          <a:prstGeom prst="roundRect">
            <a:avLst>
              <a:gd name="adj" fmla="val 4546"/>
            </a:avLst>
          </a:prstGeom>
          <a:solidFill>
            <a:srgbClr val="18212B"/>
          </a:solidFill>
          <a:ln/>
        </p:spPr>
      </p:sp>
      <p:pic>
        <p:nvPicPr>
          <p:cNvPr id="17" name="Image 0" descr="Player model">    </p:cNvPr>
          <p:cNvPicPr>
            <a:picLocks noChangeAspect="1"/>
          </p:cNvPicPr>
          <p:nvPr/>
        </p:nvPicPr>
        <p:blipFill>
          <a:blip r:embed="rId1"/>
          <a:srcRect l="-3" r="-3" t="0" b="0"/>
          <a:stretch/>
        </p:blipFill>
        <p:spPr>
          <a:xfrm>
            <a:off x="812720" y="3427586"/>
            <a:ext cx="1676433" cy="1676342"/>
          </a:xfrm>
          <a:prstGeom prst="roundRect">
            <a:avLst>
              <a:gd name="adj" fmla="val 4546"/>
            </a:avLst>
          </a:prstGeom>
        </p:spPr>
      </p:pic>
      <p:sp>
        <p:nvSpPr>
          <p:cNvPr id="18" name="Shape 15"/>
          <p:cNvSpPr/>
          <p:nvPr/>
        </p:nvSpPr>
        <p:spPr>
          <a:xfrm>
            <a:off x="2590685" y="3427586"/>
            <a:ext cx="1676523" cy="1676342"/>
          </a:xfrm>
          <a:prstGeom prst="roundRect">
            <a:avLst>
              <a:gd name="adj" fmla="val 4546"/>
            </a:avLst>
          </a:prstGeom>
          <a:solidFill>
            <a:srgbClr val="18212B"/>
          </a:solidFill>
          <a:ln/>
        </p:spPr>
      </p:sp>
      <p:pic>
        <p:nvPicPr>
          <p:cNvPr id="19" name="Image 1" descr="Sentry model">    </p:cNvPr>
          <p:cNvPicPr>
            <a:picLocks noChangeAspect="1"/>
          </p:cNvPicPr>
          <p:nvPr/>
        </p:nvPicPr>
        <p:blipFill>
          <a:blip r:embed="rId2"/>
          <a:srcRect l="-5" r="-5" t="0" b="0"/>
          <a:stretch/>
        </p:blipFill>
        <p:spPr>
          <a:xfrm>
            <a:off x="2590685" y="3427586"/>
            <a:ext cx="1676523" cy="1676342"/>
          </a:xfrm>
          <a:prstGeom prst="roundRect">
            <a:avLst>
              <a:gd name="adj" fmla="val 4546"/>
            </a:avLst>
          </a:prstGeom>
        </p:spPr>
      </p:pic>
      <p:sp>
        <p:nvSpPr>
          <p:cNvPr id="20" name="Shape 16"/>
          <p:cNvSpPr/>
          <p:nvPr/>
        </p:nvSpPr>
        <p:spPr>
          <a:xfrm>
            <a:off x="4368742" y="3427586"/>
            <a:ext cx="1676433" cy="1676342"/>
          </a:xfrm>
          <a:prstGeom prst="roundRect">
            <a:avLst>
              <a:gd name="adj" fmla="val 4546"/>
            </a:avLst>
          </a:prstGeom>
          <a:solidFill>
            <a:srgbClr val="18212B"/>
          </a:solidFill>
          <a:ln/>
        </p:spPr>
      </p:sp>
      <p:pic>
        <p:nvPicPr>
          <p:cNvPr id="21" name="Image 2" descr="Elevator model">    </p:cNvPr>
          <p:cNvPicPr>
            <a:picLocks noChangeAspect="1"/>
          </p:cNvPicPr>
          <p:nvPr/>
        </p:nvPicPr>
        <p:blipFill>
          <a:blip r:embed="rId3"/>
          <a:srcRect l="-3" r="-3" t="0" b="0"/>
          <a:stretch/>
        </p:blipFill>
        <p:spPr>
          <a:xfrm>
            <a:off x="4368742" y="3427586"/>
            <a:ext cx="1676433" cy="1676342"/>
          </a:xfrm>
          <a:prstGeom prst="roundRect">
            <a:avLst>
              <a:gd name="adj" fmla="val 4546"/>
            </a:avLst>
          </a:prstGeom>
        </p:spPr>
      </p:pic>
      <p:sp>
        <p:nvSpPr>
          <p:cNvPr id="22" name="Shape 17"/>
          <p:cNvSpPr/>
          <p:nvPr/>
        </p:nvSpPr>
        <p:spPr>
          <a:xfrm>
            <a:off x="6146708" y="3427586"/>
            <a:ext cx="1676523" cy="1676342"/>
          </a:xfrm>
          <a:prstGeom prst="roundRect">
            <a:avLst>
              <a:gd name="adj" fmla="val 4546"/>
            </a:avLst>
          </a:prstGeom>
          <a:solidFill>
            <a:srgbClr val="18212B"/>
          </a:solidFill>
          <a:ln/>
        </p:spPr>
      </p:sp>
      <p:pic>
        <p:nvPicPr>
          <p:cNvPr id="23" name="Image 3" descr="Checkpoint pad model with a glowing blue emitter">    </p:cNvPr>
          <p:cNvPicPr>
            <a:picLocks noChangeAspect="1"/>
          </p:cNvPicPr>
          <p:nvPr/>
        </p:nvPicPr>
        <p:blipFill>
          <a:blip r:embed="rId4"/>
          <a:srcRect l="-5" r="-5" t="0" b="0"/>
          <a:stretch/>
        </p:blipFill>
        <p:spPr>
          <a:xfrm>
            <a:off x="6146708" y="3427586"/>
            <a:ext cx="1676523" cy="1676342"/>
          </a:xfrm>
          <a:prstGeom prst="roundRect">
            <a:avLst>
              <a:gd name="adj" fmla="val 4546"/>
            </a:avLst>
          </a:prstGeom>
        </p:spPr>
      </p:pic>
      <p:sp>
        <p:nvSpPr>
          <p:cNvPr id="24" name="Shape 18"/>
          <p:cNvSpPr/>
          <p:nvPr/>
        </p:nvSpPr>
        <p:spPr>
          <a:xfrm>
            <a:off x="7924764" y="3427586"/>
            <a:ext cx="1676433" cy="1676342"/>
          </a:xfrm>
          <a:prstGeom prst="roundRect">
            <a:avLst>
              <a:gd name="adj" fmla="val 4546"/>
            </a:avLst>
          </a:prstGeom>
          <a:solidFill>
            <a:srgbClr val="18212B"/>
          </a:solidFill>
          <a:ln/>
        </p:spPr>
      </p:sp>
      <p:pic>
        <p:nvPicPr>
          <p:cNvPr id="25" name="Image 4" descr="Dark platform deck model">    </p:cNvPr>
          <p:cNvPicPr>
            <a:picLocks noChangeAspect="1"/>
          </p:cNvPicPr>
          <p:nvPr/>
        </p:nvPicPr>
        <p:blipFill>
          <a:blip r:embed="rId5"/>
          <a:srcRect l="-3" r="-3" t="0" b="0"/>
          <a:stretch/>
        </p:blipFill>
        <p:spPr>
          <a:xfrm>
            <a:off x="7924764" y="3427586"/>
            <a:ext cx="1676433" cy="1676342"/>
          </a:xfrm>
          <a:prstGeom prst="roundRect">
            <a:avLst>
              <a:gd name="adj" fmla="val 4546"/>
            </a:avLst>
          </a:prstGeom>
        </p:spPr>
      </p:pic>
      <p:sp>
        <p:nvSpPr>
          <p:cNvPr id="26" name="Shape 19"/>
          <p:cNvSpPr/>
          <p:nvPr/>
        </p:nvSpPr>
        <p:spPr>
          <a:xfrm>
            <a:off x="9702730" y="3427586"/>
            <a:ext cx="1676523" cy="1676342"/>
          </a:xfrm>
          <a:prstGeom prst="roundRect">
            <a:avLst>
              <a:gd name="adj" fmla="val 4546"/>
            </a:avLst>
          </a:prstGeom>
          <a:solidFill>
            <a:srgbClr val="18212B"/>
          </a:solidFill>
          <a:ln/>
        </p:spPr>
      </p:sp>
      <p:pic>
        <p:nvPicPr>
          <p:cNvPr id="27" name="Image 5" descr="Light magnetic platform deck model">    </p:cNvPr>
          <p:cNvPicPr>
            <a:picLocks noChangeAspect="1"/>
          </p:cNvPicPr>
          <p:nvPr/>
        </p:nvPicPr>
        <p:blipFill>
          <a:blip r:embed="rId6"/>
          <a:srcRect l="-5" r="-5" t="0" b="0"/>
          <a:stretch/>
        </p:blipFill>
        <p:spPr>
          <a:xfrm>
            <a:off x="9702730" y="3427586"/>
            <a:ext cx="1676523" cy="1676342"/>
          </a:xfrm>
          <a:prstGeom prst="roundRect">
            <a:avLst>
              <a:gd name="adj" fmla="val 4546"/>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5C7F5"/>
                </a:solidFill>
                <a:latin typeface="Public Sans" pitchFamily="34" charset="0"/>
                <a:ea typeface="Public Sans" pitchFamily="34" charset="-122"/>
                <a:cs typeface="Public Sans" pitchFamily="34" charset="-120"/>
              </a:rPr>
              <a:t>SOUND</a:t>
            </a:r>
            <a:endParaRPr lang="en-US" sz="1300" dirty="0"/>
          </a:p>
        </p:txBody>
      </p:sp>
      <p:sp>
        <p:nvSpPr>
          <p:cNvPr id="3" name="Text 1"/>
          <p:cNvSpPr/>
          <p:nvPr>
            <p:ph type="title"/>
          </p:nvPr>
        </p:nvSpPr>
        <p:spPr>
          <a:xfrm>
            <a:off x="812720" y="1145400"/>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E8EDF1"/>
                </a:solidFill>
                <a:latin typeface="Oswald" pitchFamily="34" charset="0"/>
                <a:ea typeface="Oswald" pitchFamily="34" charset="-122"/>
                <a:cs typeface="Oswald" pitchFamily="34" charset="-120"/>
              </a:rPr>
              <a:t>GENERATED IN ROUNDS, CHOSEN BY EAR</a:t>
            </a:r>
            <a:endParaRPr lang="en-US" sz="3200" dirty="0"/>
          </a:p>
        </p:txBody>
      </p:sp>
      <p:sp>
        <p:nvSpPr>
          <p:cNvPr id="4" name="Text 2"/>
          <p:cNvSpPr/>
          <p:nvPr/>
        </p:nvSpPr>
        <p:spPr>
          <a:xfrm>
            <a:off x="812720" y="1897162"/>
            <a:ext cx="5284756" cy="283173"/>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E8EDF1"/>
                </a:solidFill>
                <a:latin typeface="Public Sans" pitchFamily="34" charset="0"/>
                <a:ea typeface="Public Sans" pitchFamily="34" charset="-122"/>
                <a:cs typeface="Public Sans" pitchFamily="34" charset="-120"/>
              </a:rPr>
              <a:t>1.</a:t>
            </a:r>
            <a:r>
              <a:rPr lang="en-US" sz="1400" dirty="0">
                <a:solidFill>
                  <a:srgbClr val="C3CFD8"/>
                </a:solidFill>
                <a:latin typeface="Public Sans" pitchFamily="34" charset="0"/>
                <a:ea typeface="Public Sans" pitchFamily="34" charset="-122"/>
                <a:cs typeface="Public Sans" pitchFamily="34" charset="-120"/>
              </a:rPr>
              <a:t> The agent writes prompts and calls the ElevenLabs API.</a:t>
            </a:r>
            <a:endParaRPr lang="en-US" sz="1400" dirty="0"/>
          </a:p>
        </p:txBody>
      </p:sp>
      <p:sp>
        <p:nvSpPr>
          <p:cNvPr id="5" name="Text 3"/>
          <p:cNvSpPr/>
          <p:nvPr/>
        </p:nvSpPr>
        <p:spPr>
          <a:xfrm>
            <a:off x="812720" y="2281920"/>
            <a:ext cx="5284756" cy="283173"/>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E8EDF1"/>
                </a:solidFill>
                <a:latin typeface="Public Sans" pitchFamily="34" charset="0"/>
                <a:ea typeface="Public Sans" pitchFamily="34" charset="-122"/>
                <a:cs typeface="Public Sans" pitchFamily="34" charset="-120"/>
              </a:rPr>
              <a:t>2.</a:t>
            </a:r>
            <a:r>
              <a:rPr lang="en-US" sz="1400" dirty="0">
                <a:solidFill>
                  <a:srgbClr val="C3CFD8"/>
                </a:solidFill>
                <a:latin typeface="Public Sans" pitchFamily="34" charset="0"/>
                <a:ea typeface="Public Sans" pitchFamily="34" charset="-122"/>
                <a:cs typeface="Public Sans" pitchFamily="34" charset="-120"/>
              </a:rPr>
              <a:t> Options go on a listening page, matched in loudness.</a:t>
            </a:r>
            <a:endParaRPr lang="en-US" sz="1400" dirty="0"/>
          </a:p>
        </p:txBody>
      </p:sp>
      <p:sp>
        <p:nvSpPr>
          <p:cNvPr id="6" name="Text 4"/>
          <p:cNvSpPr/>
          <p:nvPr/>
        </p:nvSpPr>
        <p:spPr>
          <a:xfrm>
            <a:off x="812720" y="2666678"/>
            <a:ext cx="5284756" cy="283173"/>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E8EDF1"/>
                </a:solidFill>
                <a:latin typeface="Public Sans" pitchFamily="34" charset="0"/>
                <a:ea typeface="Public Sans" pitchFamily="34" charset="-122"/>
                <a:cs typeface="Public Sans" pitchFamily="34" charset="-120"/>
              </a:rPr>
              <a:t>3.</a:t>
            </a:r>
            <a:r>
              <a:rPr lang="en-US" sz="1400" dirty="0">
                <a:solidFill>
                  <a:srgbClr val="C3CFD8"/>
                </a:solidFill>
                <a:latin typeface="Public Sans" pitchFamily="34" charset="0"/>
                <a:ea typeface="Public Sans" pitchFamily="34" charset="-122"/>
                <a:cs typeface="Public Sans" pitchFamily="34" charset="-120"/>
              </a:rPr>
              <a:t> I pick, then we hear it in the game.</a:t>
            </a:r>
            <a:endParaRPr lang="en-US" sz="1400" dirty="0"/>
          </a:p>
        </p:txBody>
      </p:sp>
      <p:sp>
        <p:nvSpPr>
          <p:cNvPr id="7" name="Text 5"/>
          <p:cNvSpPr/>
          <p:nvPr/>
        </p:nvSpPr>
        <p:spPr>
          <a:xfrm>
            <a:off x="812720" y="3051435"/>
            <a:ext cx="5284756" cy="283173"/>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E8EDF1"/>
                </a:solidFill>
                <a:latin typeface="Public Sans" pitchFamily="34" charset="0"/>
                <a:ea typeface="Public Sans" pitchFamily="34" charset="-122"/>
                <a:cs typeface="Public Sans" pitchFamily="34" charset="-120"/>
              </a:rPr>
              <a:t>4.</a:t>
            </a:r>
            <a:r>
              <a:rPr lang="en-US" sz="1400" dirty="0">
                <a:solidFill>
                  <a:srgbClr val="C3CFD8"/>
                </a:solidFill>
                <a:latin typeface="Public Sans" pitchFamily="34" charset="0"/>
                <a:ea typeface="Public Sans" pitchFamily="34" charset="-122"/>
                <a:cs typeface="Public Sans" pitchFamily="34" charset="-120"/>
              </a:rPr>
              <a:t> My playtest notes set the next round.</a:t>
            </a:r>
            <a:endParaRPr lang="en-US" sz="1400" dirty="0"/>
          </a:p>
        </p:txBody>
      </p:sp>
      <p:sp>
        <p:nvSpPr>
          <p:cNvPr id="8" name="Text 6"/>
          <p:cNvSpPr/>
          <p:nvPr/>
        </p:nvSpPr>
        <p:spPr>
          <a:xfrm>
            <a:off x="812720" y="3436193"/>
            <a:ext cx="5435612"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BB9"/>
                </a:solidFill>
                <a:latin typeface="Public Sans" pitchFamily="34" charset="0"/>
                <a:ea typeface="Public Sans" pitchFamily="34" charset="-122"/>
                <a:cs typeface="Public Sans" pitchFamily="34" charset="-120"/>
              </a:rPr>
              <a:t>3 rounds · 31 generations · 13 sounds in the game · 723 credits</a:t>
            </a:r>
            <a:endParaRPr lang="en-US" sz="1400" dirty="0"/>
          </a:p>
        </p:txBody>
      </p:sp>
      <p:sp>
        <p:nvSpPr>
          <p:cNvPr id="9" name="Shape 7"/>
          <p:cNvSpPr/>
          <p:nvPr/>
        </p:nvSpPr>
        <p:spPr>
          <a:xfrm>
            <a:off x="6251507" y="1900337"/>
            <a:ext cx="5124571" cy="1179896"/>
          </a:xfrm>
          <a:prstGeom prst="roundRect">
            <a:avLst>
              <a:gd name="adj" fmla="val 8342"/>
            </a:avLst>
          </a:prstGeom>
          <a:solidFill>
            <a:srgbClr val="18212B"/>
          </a:solidFill>
          <a:ln w="6350">
            <a:solidFill>
              <a:srgbClr val="2A3644"/>
            </a:solidFill>
            <a:prstDash val="solid"/>
          </a:ln>
        </p:spPr>
      </p:sp>
      <p:sp>
        <p:nvSpPr>
          <p:cNvPr id="10" name="Text 8"/>
          <p:cNvSpPr/>
          <p:nvPr/>
        </p:nvSpPr>
        <p:spPr>
          <a:xfrm>
            <a:off x="6457286" y="2106116"/>
            <a:ext cx="4854404"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5C7F5"/>
                </a:solidFill>
                <a:latin typeface="Public Sans" pitchFamily="34" charset="0"/>
                <a:ea typeface="Public Sans" pitchFamily="34" charset="-122"/>
                <a:cs typeface="Public Sans" pitchFamily="34" charset="-120"/>
              </a:rPr>
              <a:t>CHOSEN FOOTSTEPS, OPTION D OF 4</a:t>
            </a:r>
            <a:endParaRPr lang="en-US" sz="1200" dirty="0"/>
          </a:p>
        </p:txBody>
      </p:sp>
      <p:sp>
        <p:nvSpPr>
          <p:cNvPr id="11" name="Text 9"/>
          <p:cNvSpPr/>
          <p:nvPr/>
        </p:nvSpPr>
        <p:spPr>
          <a:xfrm>
            <a:off x="6457286" y="2395680"/>
            <a:ext cx="4854404" cy="50417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3CFD8"/>
                </a:solidFill>
                <a:latin typeface="Public Sans" pitchFamily="34" charset="0"/>
                <a:ea typeface="Public Sans" pitchFamily="34" charset="-122"/>
                <a:cs typeface="Public Sans" pitchFamily="34" charset="-120"/>
              </a:rPr>
              <a:t>“…Tactical boots with hard composite soles on a smooth spaceship floor panel, crisp heel and toe”</a:t>
            </a:r>
            <a:endParaRPr lang="en-US" sz="1300" dirty="0"/>
          </a:p>
        </p:txBody>
      </p:sp>
      <p:sp>
        <p:nvSpPr>
          <p:cNvPr id="12" name="Shape 10"/>
          <p:cNvSpPr/>
          <p:nvPr/>
        </p:nvSpPr>
        <p:spPr>
          <a:xfrm>
            <a:off x="6251507" y="3238928"/>
            <a:ext cx="5124571" cy="1419283"/>
          </a:xfrm>
          <a:prstGeom prst="roundRect">
            <a:avLst>
              <a:gd name="adj" fmla="val 6935"/>
            </a:avLst>
          </a:prstGeom>
          <a:solidFill>
            <a:srgbClr val="18212B"/>
          </a:solidFill>
          <a:ln w="6350">
            <a:solidFill>
              <a:srgbClr val="2A3644"/>
            </a:solidFill>
            <a:prstDash val="solid"/>
          </a:ln>
        </p:spPr>
      </p:sp>
      <p:sp>
        <p:nvSpPr>
          <p:cNvPr id="13" name="Text 11"/>
          <p:cNvSpPr/>
          <p:nvPr/>
        </p:nvSpPr>
        <p:spPr>
          <a:xfrm>
            <a:off x="6457286" y="3444708"/>
            <a:ext cx="4854404"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5C7F5"/>
                </a:solidFill>
                <a:latin typeface="Public Sans" pitchFamily="34" charset="0"/>
                <a:ea typeface="Public Sans" pitchFamily="34" charset="-122"/>
                <a:cs typeface="Public Sans" pitchFamily="34" charset="-120"/>
              </a:rPr>
              <a:t>CHOSEN SENTRY LOCK-ON, OPTION A OF 4</a:t>
            </a:r>
            <a:endParaRPr lang="en-US" sz="1200" dirty="0"/>
          </a:p>
        </p:txBody>
      </p:sp>
      <p:sp>
        <p:nvSpPr>
          <p:cNvPr id="14" name="Text 12"/>
          <p:cNvSpPr/>
          <p:nvPr/>
        </p:nvSpPr>
        <p:spPr>
          <a:xfrm>
            <a:off x="6457286" y="3734271"/>
            <a:ext cx="4854404" cy="7435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3CFD8"/>
                </a:solidFill>
                <a:latin typeface="Public Sans" pitchFamily="34" charset="0"/>
                <a:ea typeface="Public Sans" pitchFamily="34" charset="-122"/>
                <a:cs typeface="Public Sans" pitchFamily="34" charset="-120"/>
              </a:rPr>
              <a:t>“Menacing robot sentry waking and locking on: a deep low mechanical growl rising slightly, ending in a heavy low targeting thrum”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5A04A"/>
                </a:solidFill>
                <a:latin typeface="Public Sans" pitchFamily="34" charset="0"/>
                <a:ea typeface="Public Sans" pitchFamily="34" charset="-122"/>
                <a:cs typeface="Public Sans" pitchFamily="34" charset="-120"/>
              </a:rPr>
              <a:t>FOUND BY PLAYTESTING</a:t>
            </a:r>
            <a:endParaRPr lang="en-US" sz="1300" dirty="0"/>
          </a:p>
        </p:txBody>
      </p:sp>
      <p:sp>
        <p:nvSpPr>
          <p:cNvPr id="3" name="Text 1"/>
          <p:cNvSpPr/>
          <p:nvPr>
            <p:ph type="title"/>
          </p:nvPr>
        </p:nvSpPr>
        <p:spPr>
          <a:xfrm>
            <a:off x="812720" y="1145394"/>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E8EDF1"/>
                </a:solidFill>
                <a:latin typeface="Oswald" pitchFamily="34" charset="0"/>
                <a:ea typeface="Oswald" pitchFamily="34" charset="-122"/>
                <a:cs typeface="Oswald" pitchFamily="34" charset="-120"/>
              </a:rPr>
              <a:t>WHAT THE TESTS COULDN’T SEE</a:t>
            </a:r>
            <a:endParaRPr lang="en-US" sz="3200" dirty="0"/>
          </a:p>
        </p:txBody>
      </p:sp>
      <p:pic>
        <p:nvPicPr>
          <p:cNvPr id="4" name="Image 0" descr="Before: horizontal flickering stripes across the elevator shaft wall">    </p:cNvPr>
          <p:cNvPicPr>
            <a:picLocks noChangeAspect="1"/>
          </p:cNvPicPr>
          <p:nvPr/>
        </p:nvPicPr>
        <p:blipFill>
          <a:blip r:embed="rId1"/>
          <a:srcRect l="0" r="0" t="825" b="825"/>
          <a:stretch/>
        </p:blipFill>
        <p:spPr>
          <a:xfrm>
            <a:off x="838120" y="1871749"/>
            <a:ext cx="5130752" cy="1892282"/>
          </a:xfrm>
          <a:prstGeom prst="roundRect">
            <a:avLst>
              <a:gd name="adj" fmla="val 2685"/>
            </a:avLst>
          </a:prstGeom>
        </p:spPr>
      </p:pic>
      <p:sp>
        <p:nvSpPr>
          <p:cNvPr id="5" name="Shape 2"/>
          <p:cNvSpPr/>
          <p:nvPr/>
        </p:nvSpPr>
        <p:spPr>
          <a:xfrm>
            <a:off x="825420" y="1859049"/>
            <a:ext cx="5156152" cy="1917682"/>
          </a:xfrm>
          <a:prstGeom prst="roundRect">
            <a:avLst>
              <a:gd name="adj" fmla="val 3311"/>
            </a:avLst>
          </a:prstGeom>
          <a:noFill/>
          <a:ln w="25400">
            <a:solidFill>
              <a:srgbClr val="F5A04A"/>
            </a:solidFill>
            <a:prstDash val="solid"/>
          </a:ln>
        </p:spPr>
      </p:sp>
      <p:sp>
        <p:nvSpPr>
          <p:cNvPr id="6" name="Text 3"/>
          <p:cNvSpPr/>
          <p:nvPr/>
        </p:nvSpPr>
        <p:spPr>
          <a:xfrm>
            <a:off x="812720" y="3878281"/>
            <a:ext cx="5337092" cy="248302"/>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5A04A"/>
                </a:solidFill>
                <a:latin typeface="Public Sans" pitchFamily="34" charset="0"/>
                <a:ea typeface="Public Sans" pitchFamily="34" charset="-122"/>
                <a:cs typeface="Public Sans" pitchFamily="34" charset="-120"/>
              </a:rPr>
              <a:t>Before:</a:t>
            </a:r>
            <a:r>
              <a:rPr lang="en-US" sz="1300" dirty="0">
                <a:solidFill>
                  <a:srgbClr val="C3CFD8"/>
                </a:solidFill>
                <a:latin typeface="Public Sans" pitchFamily="34" charset="0"/>
                <a:ea typeface="Public Sans" pitchFamily="34" charset="-122"/>
                <a:cs typeface="Public Sans" pitchFamily="34" charset="-120"/>
              </a:rPr>
              <a:t> the start shaft flickered on the ride up</a:t>
            </a:r>
            <a:endParaRPr lang="en-US" sz="1300" dirty="0"/>
          </a:p>
        </p:txBody>
      </p:sp>
      <p:pic>
        <p:nvPicPr>
          <p:cNvPr id="7" name="Image 1" descr="After: the same shaft wall renders as a clean grid">    </p:cNvPr>
          <p:cNvPicPr>
            <a:picLocks noChangeAspect="1"/>
          </p:cNvPicPr>
          <p:nvPr/>
        </p:nvPicPr>
        <p:blipFill>
          <a:blip r:embed="rId2"/>
          <a:srcRect l="0" r="0" t="825" b="825"/>
          <a:stretch/>
        </p:blipFill>
        <p:spPr>
          <a:xfrm>
            <a:off x="6222920" y="1871749"/>
            <a:ext cx="5130752" cy="1892282"/>
          </a:xfrm>
          <a:prstGeom prst="roundRect">
            <a:avLst>
              <a:gd name="adj" fmla="val 2685"/>
            </a:avLst>
          </a:prstGeom>
        </p:spPr>
      </p:pic>
      <p:sp>
        <p:nvSpPr>
          <p:cNvPr id="8" name="Shape 4"/>
          <p:cNvSpPr/>
          <p:nvPr/>
        </p:nvSpPr>
        <p:spPr>
          <a:xfrm>
            <a:off x="6210220" y="1859049"/>
            <a:ext cx="5156152" cy="1917682"/>
          </a:xfrm>
          <a:prstGeom prst="roundRect">
            <a:avLst>
              <a:gd name="adj" fmla="val 3311"/>
            </a:avLst>
          </a:prstGeom>
          <a:noFill/>
          <a:ln w="25400">
            <a:solidFill>
              <a:srgbClr val="55C7F5"/>
            </a:solidFill>
            <a:prstDash val="solid"/>
          </a:ln>
        </p:spPr>
      </p:sp>
      <p:sp>
        <p:nvSpPr>
          <p:cNvPr id="9" name="Text 5"/>
          <p:cNvSpPr/>
          <p:nvPr/>
        </p:nvSpPr>
        <p:spPr>
          <a:xfrm>
            <a:off x="6197520" y="3878281"/>
            <a:ext cx="5337185" cy="248302"/>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55C7F5"/>
                </a:solidFill>
                <a:latin typeface="Public Sans" pitchFamily="34" charset="0"/>
                <a:ea typeface="Public Sans" pitchFamily="34" charset="-122"/>
                <a:cs typeface="Public Sans" pitchFamily="34" charset="-120"/>
              </a:rPr>
              <a:t>After:</a:t>
            </a:r>
            <a:r>
              <a:rPr lang="en-US" sz="1300" dirty="0">
                <a:solidFill>
                  <a:srgbClr val="C3CFD8"/>
                </a:solidFill>
                <a:latin typeface="Public Sans" pitchFamily="34" charset="0"/>
                <a:ea typeface="Public Sans" pitchFamily="34" charset="-122"/>
                <a:cs typeface="Public Sans" pitchFamily="34" charset="-120"/>
              </a:rPr>
              <a:t> walls inset 5 mm from the floor’s cut edges</a:t>
            </a:r>
            <a:endParaRPr lang="en-US" sz="1300" dirty="0"/>
          </a:p>
        </p:txBody>
      </p:sp>
      <p:sp>
        <p:nvSpPr>
          <p:cNvPr id="10" name="Shape 6"/>
          <p:cNvSpPr/>
          <p:nvPr/>
        </p:nvSpPr>
        <p:spPr>
          <a:xfrm>
            <a:off x="815895" y="4358326"/>
            <a:ext cx="5175293" cy="1094848"/>
          </a:xfrm>
          <a:prstGeom prst="roundRect">
            <a:avLst>
              <a:gd name="adj" fmla="val 8990"/>
            </a:avLst>
          </a:prstGeom>
          <a:solidFill>
            <a:srgbClr val="18212B"/>
          </a:solidFill>
          <a:ln w="6350">
            <a:solidFill>
              <a:srgbClr val="2A3644"/>
            </a:solidFill>
            <a:prstDash val="solid"/>
          </a:ln>
        </p:spPr>
      </p:sp>
      <p:sp>
        <p:nvSpPr>
          <p:cNvPr id="11" name="Text 7"/>
          <p:cNvSpPr/>
          <p:nvPr/>
        </p:nvSpPr>
        <p:spPr>
          <a:xfrm>
            <a:off x="996313" y="4538749"/>
            <a:ext cx="4958890" cy="269134"/>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E8EDF1"/>
                </a:solidFill>
                <a:latin typeface="Oswald" pitchFamily="34" charset="0"/>
                <a:ea typeface="Oswald" pitchFamily="34" charset="-122"/>
                <a:cs typeface="Oswald" pitchFamily="34" charset="-120"/>
              </a:rPr>
              <a:t>Jitter while riding platforms</a:t>
            </a:r>
            <a:endParaRPr lang="en-US" sz="1600" dirty="0"/>
          </a:p>
        </p:txBody>
      </p:sp>
      <p:sp>
        <p:nvSpPr>
          <p:cNvPr id="12" name="Text 8"/>
          <p:cNvSpPr/>
          <p:nvPr/>
        </p:nvSpPr>
        <p:spPr>
          <a:xfrm>
            <a:off x="996313" y="4845974"/>
            <a:ext cx="4958890" cy="45218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The player was drawn smoothly between physics steps; platforms weren’t. Now both are, and the gap holds at 2.0 cm.</a:t>
            </a:r>
            <a:endParaRPr lang="en-US" sz="1200" dirty="0"/>
          </a:p>
        </p:txBody>
      </p:sp>
      <p:sp>
        <p:nvSpPr>
          <p:cNvPr id="13" name="Shape 9"/>
          <p:cNvSpPr/>
          <p:nvPr/>
        </p:nvSpPr>
        <p:spPr>
          <a:xfrm>
            <a:off x="6200695" y="4358326"/>
            <a:ext cx="5175383" cy="1094848"/>
          </a:xfrm>
          <a:prstGeom prst="roundRect">
            <a:avLst>
              <a:gd name="adj" fmla="val 8990"/>
            </a:avLst>
          </a:prstGeom>
          <a:solidFill>
            <a:srgbClr val="18212B"/>
          </a:solidFill>
          <a:ln w="6350">
            <a:solidFill>
              <a:srgbClr val="2A3644"/>
            </a:solidFill>
            <a:prstDash val="solid"/>
          </a:ln>
        </p:spPr>
      </p:sp>
      <p:sp>
        <p:nvSpPr>
          <p:cNvPr id="14" name="Text 10"/>
          <p:cNvSpPr/>
          <p:nvPr/>
        </p:nvSpPr>
        <p:spPr>
          <a:xfrm>
            <a:off x="6381113" y="4538749"/>
            <a:ext cx="4958983" cy="269134"/>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E8EDF1"/>
                </a:solidFill>
                <a:latin typeface="Oswald" pitchFamily="34" charset="0"/>
                <a:ea typeface="Oswald" pitchFamily="34" charset="-122"/>
                <a:cs typeface="Oswald" pitchFamily="34" charset="-120"/>
              </a:rPr>
              <a:t>Flickering corridor floors, twice</a:t>
            </a:r>
            <a:endParaRPr lang="en-US" sz="1600" dirty="0"/>
          </a:p>
        </p:txBody>
      </p:sp>
      <p:sp>
        <p:nvSpPr>
          <p:cNvPr id="15" name="Text 11"/>
          <p:cNvSpPr/>
          <p:nvPr/>
        </p:nvSpPr>
        <p:spPr>
          <a:xfrm>
            <a:off x="6381113" y="4845974"/>
            <a:ext cx="4958983" cy="45218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Floors ran into the doorways. Fixed, then reintroduced by the script that built the new rooms.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319"/>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5A04A"/>
                </a:solidFill>
                <a:latin typeface="Public Sans" pitchFamily="34" charset="0"/>
                <a:ea typeface="Public Sans" pitchFamily="34" charset="-122"/>
                <a:cs typeface="Public Sans" pitchFamily="34" charset="-120"/>
              </a:rPr>
              <a:t>FOUND BY PLAYTESTING</a:t>
            </a:r>
            <a:endParaRPr lang="en-US" sz="1300" dirty="0"/>
          </a:p>
        </p:txBody>
      </p:sp>
      <p:sp>
        <p:nvSpPr>
          <p:cNvPr id="3" name="Text 1"/>
          <p:cNvSpPr/>
          <p:nvPr>
            <p:ph type="title"/>
          </p:nvPr>
        </p:nvSpPr>
        <p:spPr>
          <a:xfrm>
            <a:off x="812720" y="1145400"/>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E8EDF1"/>
                </a:solidFill>
                <a:latin typeface="Oswald" pitchFamily="34" charset="0"/>
                <a:ea typeface="Oswald" pitchFamily="34" charset="-122"/>
                <a:cs typeface="Oswald" pitchFamily="34" charset="-120"/>
              </a:rPr>
              <a:t>WHAT FELT WRONG, AND WHY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13" y="1857943"/>
          <a:ext cx="10554758" cy="3032233"/>
        </p:xfrm>
        <a:graphic>
          <a:graphicData uri="http://schemas.openxmlformats.org/drawingml/2006/table">
            <a:tbl>
              <a:tblPr/>
              <a:tblGrid>
                <a:gridCol w="3799713"/>
                <a:gridCol w="3377523"/>
                <a:gridCol w="3377523"/>
              </a:tblGrid>
              <a:tr h="402692">
                <a:tc>
                  <a:txBody>
                    <a:bodyPr/>
                    <a:lstStyle/>
                    <a:p>
                      <a:pPr indent="0" marL="0">
                        <a:lnSpc>
                          <a:spcPts val="1680"/>
                        </a:lnSpc>
                        <a:buNone/>
                      </a:pPr>
                      <a:r>
                        <a:rPr lang="en-US" sz="1200" b="1" dirty="0">
                          <a:solidFill>
                            <a:srgbClr val="E8EDF1"/>
                          </a:solidFill>
                          <a:latin typeface="Public Sans" pitchFamily="34" charset="0"/>
                          <a:ea typeface="Public Sans" pitchFamily="34" charset="-122"/>
                          <a:cs typeface="Public Sans" pitchFamily="34" charset="-120"/>
                        </a:rPr>
                        <a:t>What I noticed</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A5157"/>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A5157"/>
                      </a:solidFill>
                      <a:prstDash val="solid"/>
                      <a:round/>
                      <a:headEnd type="none" w="med" len="med"/>
                      <a:tailEnd type="none" w="med" len="med"/>
                    </a:lnB>
                    <a:solidFill>
                      <a:srgbClr val="18212B"/>
                    </a:solidFill>
                  </a:tcPr>
                </a:tc>
                <a:tc>
                  <a:txBody>
                    <a:bodyPr/>
                    <a:lstStyle/>
                    <a:p>
                      <a:pPr indent="0" marL="0">
                        <a:lnSpc>
                          <a:spcPts val="1680"/>
                        </a:lnSpc>
                        <a:buNone/>
                      </a:pPr>
                      <a:r>
                        <a:rPr lang="en-US" sz="1200" b="1" dirty="0">
                          <a:solidFill>
                            <a:srgbClr val="E8EDF1"/>
                          </a:solidFill>
                          <a:latin typeface="Public Sans" pitchFamily="34" charset="0"/>
                          <a:ea typeface="Public Sans" pitchFamily="34" charset="-122"/>
                          <a:cs typeface="Public Sans" pitchFamily="34" charset="-120"/>
                        </a:rPr>
                        <a:t>The cause</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A5157"/>
                      </a:solidFill>
                      <a:prstDash val="solid"/>
                      <a:round/>
                      <a:headEnd type="none" w="med" len="med"/>
                      <a:tailEnd type="none" w="med" len="med"/>
                    </a:lnL>
                    <a:lnR w="12700" cap="flat" cmpd="sng" algn="ctr">
                      <a:solidFill>
                        <a:srgbClr val="4A5157"/>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A5157"/>
                      </a:solidFill>
                      <a:prstDash val="solid"/>
                      <a:round/>
                      <a:headEnd type="none" w="med" len="med"/>
                      <a:tailEnd type="none" w="med" len="med"/>
                    </a:lnB>
                    <a:solidFill>
                      <a:srgbClr val="18212B"/>
                    </a:solidFill>
                  </a:tcPr>
                </a:tc>
                <a:tc>
                  <a:txBody>
                    <a:bodyPr/>
                    <a:lstStyle/>
                    <a:p>
                      <a:pPr indent="0" marL="0">
                        <a:lnSpc>
                          <a:spcPts val="1680"/>
                        </a:lnSpc>
                        <a:buNone/>
                      </a:pPr>
                      <a:r>
                        <a:rPr lang="en-US" sz="1200" b="1" dirty="0">
                          <a:solidFill>
                            <a:srgbClr val="E8EDF1"/>
                          </a:solidFill>
                          <a:latin typeface="Public Sans" pitchFamily="34" charset="0"/>
                          <a:ea typeface="Public Sans" pitchFamily="34" charset="-122"/>
                          <a:cs typeface="Public Sans" pitchFamily="34" charset="-120"/>
                        </a:rPr>
                        <a:t>The fix</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A5157"/>
                      </a:solidFill>
                      <a:prstDash val="solid"/>
                      <a:round/>
                      <a:headEnd type="none" w="med" len="med"/>
                      <a:tailEnd type="none" w="med" len="med"/>
                    </a:lnL>
                    <a:lnR w="12700" cap="flat" cmpd="sng" algn="ctr">
                      <a:solidFill>
                        <a:srgbClr val="4A5157"/>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A5157"/>
                      </a:solidFill>
                      <a:prstDash val="solid"/>
                      <a:round/>
                      <a:headEnd type="none" w="med" len="med"/>
                      <a:tailEnd type="none" w="med" len="med"/>
                    </a:lnB>
                    <a:solidFill>
                      <a:srgbClr val="18212B"/>
                    </a:solidFill>
                  </a:tcPr>
                </a:tc>
              </a:tr>
              <a:tr h="402692">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Sentries beaten by jumping or speed</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A5157"/>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Reacted only once you were in its plane</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A5157"/>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Charges early; fires the instant you enter</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A5157"/>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r>
              <a:tr h="616084">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A descending platform pushed me through the floor</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Push-out took the shortest way: down</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Step the player aside instead</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r>
              <a:tr h="402692">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Footsteps and boot hum barely audible</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Two clips silent; hum all below 60 Hz</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Recut; new prompts asking for midrange</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r>
              <a:tr h="402692">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Footsteps slightly out of time</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Fired 0.05–0.1 s before the heel landed</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Trigger when the foot stops moving</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r>
              <a:tr h="402692">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Never saw the first “magnetize” hint</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Hint only looked for curves</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Show it on the first magnetic floor</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r>
              <a:tr h="402692">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Magnetized walk “too slow to be fun”</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1.5 m/s with a heavy walk clip</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c>
                  <a:txBody>
                    <a:bodyPr/>
                    <a:lstStyle/>
                    <a:p>
                      <a:pPr indent="0" marL="0">
                        <a:lnSpc>
                          <a:spcPts val="1680"/>
                        </a:lnSpc>
                        <a:buNone/>
                      </a:pPr>
                      <a:r>
                        <a:rPr lang="en-US" sz="1200" dirty="0">
                          <a:solidFill>
                            <a:srgbClr val="C3CFD8"/>
                          </a:solidFill>
                          <a:latin typeface="Public Sans" pitchFamily="34" charset="0"/>
                          <a:ea typeface="Public Sans" pitchFamily="34" charset="-122"/>
                          <a:cs typeface="Public Sans" pitchFamily="34" charset="-120"/>
                        </a:rPr>
                        <a:t>New Tripo clip at 3 m/s</a:t>
                      </a:r>
                      <a:endParaRPr lang="en-US" sz="1200" dirty="0">
                        <a:latin typeface="Public Sans" charset="0"/>
                        <a:ea typeface="Public Sans" charset="0"/>
                        <a:cs typeface="Public Sans" charset="0"/>
                      </a:endParaRPr>
                    </a:p>
                  </a:txBody>
                  <a:tcPr marL="127000" marR="127000" marT="88900" marB="88900" anchor="t">
                    <a:lnL w="12700" cap="flat" cmpd="sng" algn="ctr">
                      <a:solidFill>
                        <a:srgbClr val="424649"/>
                      </a:solidFill>
                      <a:prstDash val="solid"/>
                      <a:round/>
                      <a:headEnd type="none" w="med" len="med"/>
                      <a:tailEnd type="none" w="med" len="med"/>
                    </a:lnL>
                    <a:lnR w="12700" cap="flat" cmpd="sng" algn="ctr">
                      <a:solidFill>
                        <a:srgbClr val="424649"/>
                      </a:solidFill>
                      <a:prstDash val="solid"/>
                      <a:round/>
                      <a:headEnd type="none" w="med" len="med"/>
                      <a:tailEnd type="none" w="med" len="med"/>
                    </a:lnR>
                    <a:lnT w="12700" cap="flat" cmpd="sng" algn="ctr">
                      <a:solidFill>
                        <a:srgbClr val="424649"/>
                      </a:solidFill>
                      <a:prstDash val="solid"/>
                      <a:round/>
                      <a:headEnd type="none" w="med" len="med"/>
                      <a:tailEnd type="none" w="med" len="med"/>
                    </a:lnT>
                    <a:lnB w="12700" cap="flat" cmpd="sng" algn="ctr">
                      <a:solidFill>
                        <a:srgbClr val="424649"/>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812720" y="812719"/>
            <a:ext cx="10883529" cy="256545"/>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0B6C9E"/>
                </a:solidFill>
                <a:latin typeface="Public Sans" pitchFamily="34" charset="0"/>
                <a:ea typeface="Public Sans" pitchFamily="34" charset="-122"/>
                <a:cs typeface="Public Sans" pitchFamily="34" charset="-120"/>
              </a:rPr>
              <a:t>THE WORKFLOW</a:t>
            </a:r>
            <a:endParaRPr lang="en-US" sz="1300" dirty="0"/>
          </a:p>
        </p:txBody>
      </p:sp>
      <p:sp>
        <p:nvSpPr>
          <p:cNvPr id="3" name="Text 1"/>
          <p:cNvSpPr/>
          <p:nvPr>
            <p:ph type="title"/>
          </p:nvPr>
        </p:nvSpPr>
        <p:spPr>
          <a:xfrm>
            <a:off x="812720" y="1145394"/>
            <a:ext cx="10883529" cy="528266"/>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0E1319"/>
                </a:solidFill>
                <a:latin typeface="Oswald" pitchFamily="34" charset="0"/>
                <a:ea typeface="Oswald" pitchFamily="34" charset="-122"/>
                <a:cs typeface="Oswald" pitchFamily="34" charset="-120"/>
              </a:rPr>
              <a:t>HUMAN FIRST, AI IN THE MIDDLE, HUMAN LAST</a:t>
            </a:r>
            <a:endParaRPr lang="en-US" sz="3600" dirty="0"/>
          </a:p>
        </p:txBody>
      </p:sp>
      <p:sp>
        <p:nvSpPr>
          <p:cNvPr id="4" name="Shape 2"/>
          <p:cNvSpPr/>
          <p:nvPr/>
        </p:nvSpPr>
        <p:spPr>
          <a:xfrm>
            <a:off x="815895" y="1956215"/>
            <a:ext cx="3380389" cy="2872451"/>
          </a:xfrm>
          <a:prstGeom prst="roundRect">
            <a:avLst>
              <a:gd name="adj" fmla="val 3427"/>
            </a:avLst>
          </a:prstGeom>
          <a:solidFill>
            <a:srgbClr val="FBFCFD"/>
          </a:solidFill>
          <a:ln w="6350">
            <a:solidFill>
              <a:srgbClr val="D5DDE3"/>
            </a:solidFill>
            <a:prstDash val="solid"/>
          </a:ln>
        </p:spPr>
      </p:sp>
      <p:sp>
        <p:nvSpPr>
          <p:cNvPr id="5" name="Text 3"/>
          <p:cNvSpPr/>
          <p:nvPr/>
        </p:nvSpPr>
        <p:spPr>
          <a:xfrm>
            <a:off x="1047034" y="2187358"/>
            <a:ext cx="3005654" cy="360705"/>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0E1319"/>
                </a:solidFill>
                <a:latin typeface="Oswald" pitchFamily="34" charset="0"/>
                <a:ea typeface="Oswald" pitchFamily="34" charset="-122"/>
                <a:cs typeface="Oswald" pitchFamily="34" charset="-120"/>
              </a:rPr>
              <a:t>Human first</a:t>
            </a:r>
            <a:endParaRPr lang="en-US" sz="2200" dirty="0"/>
          </a:p>
        </p:txBody>
      </p:sp>
      <p:sp>
        <p:nvSpPr>
          <p:cNvPr id="6" name="Text 4"/>
          <p:cNvSpPr/>
          <p:nvPr/>
        </p:nvSpPr>
        <p:spPr>
          <a:xfrm>
            <a:off x="1047034" y="2636881"/>
            <a:ext cx="3005654"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The concept and its rules: curves only, drops as puzzles</a:t>
            </a:r>
            <a:endParaRPr lang="en-US" sz="1300" dirty="0"/>
          </a:p>
        </p:txBody>
      </p:sp>
      <p:sp>
        <p:nvSpPr>
          <p:cNvPr id="7" name="Text 5"/>
          <p:cNvSpPr/>
          <p:nvPr/>
        </p:nvSpPr>
        <p:spPr>
          <a:xfrm>
            <a:off x="1047034" y="3213379"/>
            <a:ext cx="3005654"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Every asset idea and first prompt</a:t>
            </a:r>
            <a:endParaRPr lang="en-US" sz="1300" dirty="0"/>
          </a:p>
        </p:txBody>
      </p:sp>
      <p:sp>
        <p:nvSpPr>
          <p:cNvPr id="8" name="Text 6"/>
          <p:cNvSpPr/>
          <p:nvPr/>
        </p:nvSpPr>
        <p:spPr>
          <a:xfrm>
            <a:off x="1047034" y="3558735"/>
            <a:ext cx="3005654"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Which rooms, which hazards, how hard</a:t>
            </a:r>
            <a:endParaRPr lang="en-US" sz="1300" dirty="0"/>
          </a:p>
        </p:txBody>
      </p:sp>
      <p:sp>
        <p:nvSpPr>
          <p:cNvPr id="9" name="Text 7"/>
          <p:cNvSpPr/>
          <p:nvPr/>
        </p:nvSpPr>
        <p:spPr>
          <a:xfrm>
            <a:off x="1047034" y="4135245"/>
            <a:ext cx="3005654"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The models themselves, in Tripo</a:t>
            </a:r>
            <a:endParaRPr lang="en-US" sz="1300" dirty="0"/>
          </a:p>
        </p:txBody>
      </p:sp>
      <p:sp>
        <p:nvSpPr>
          <p:cNvPr id="10" name="Shape 8"/>
          <p:cNvSpPr/>
          <p:nvPr/>
        </p:nvSpPr>
        <p:spPr>
          <a:xfrm>
            <a:off x="4405792" y="1956215"/>
            <a:ext cx="3380389" cy="2872451"/>
          </a:xfrm>
          <a:prstGeom prst="roundRect">
            <a:avLst>
              <a:gd name="adj" fmla="val 3427"/>
            </a:avLst>
          </a:prstGeom>
          <a:solidFill>
            <a:srgbClr val="FBFCFD"/>
          </a:solidFill>
          <a:ln w="6350">
            <a:solidFill>
              <a:srgbClr val="D5DDE3"/>
            </a:solidFill>
            <a:prstDash val="solid"/>
          </a:ln>
        </p:spPr>
      </p:sp>
      <p:sp>
        <p:nvSpPr>
          <p:cNvPr id="11" name="Text 9"/>
          <p:cNvSpPr/>
          <p:nvPr/>
        </p:nvSpPr>
        <p:spPr>
          <a:xfrm>
            <a:off x="4636931" y="2187358"/>
            <a:ext cx="3005654" cy="360705"/>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0B6C9E"/>
                </a:solidFill>
                <a:latin typeface="Oswald" pitchFamily="34" charset="0"/>
                <a:ea typeface="Oswald" pitchFamily="34" charset="-122"/>
                <a:cs typeface="Oswald" pitchFamily="34" charset="-120"/>
              </a:rPr>
              <a:t>AI in the middle</a:t>
            </a:r>
            <a:endParaRPr lang="en-US" sz="2200" dirty="0"/>
          </a:p>
        </p:txBody>
      </p:sp>
      <p:sp>
        <p:nvSpPr>
          <p:cNvPr id="12" name="Text 10"/>
          <p:cNvSpPr/>
          <p:nvPr/>
        </p:nvSpPr>
        <p:spPr>
          <a:xfrm>
            <a:off x="4636931" y="2636881"/>
            <a:ext cx="3005654"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Code, tests and levels, in the live Editor</a:t>
            </a:r>
            <a:endParaRPr lang="en-US" sz="1300" dirty="0"/>
          </a:p>
        </p:txBody>
      </p:sp>
      <p:sp>
        <p:nvSpPr>
          <p:cNvPr id="13" name="Text 11"/>
          <p:cNvSpPr/>
          <p:nvPr/>
        </p:nvSpPr>
        <p:spPr>
          <a:xfrm>
            <a:off x="4636931" y="3213379"/>
            <a:ext cx="3005654"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Prompts rewritten for Tripo and ElevenLabs</a:t>
            </a:r>
            <a:endParaRPr lang="en-US" sz="1300" dirty="0"/>
          </a:p>
        </p:txBody>
      </p:sp>
      <p:sp>
        <p:nvSpPr>
          <p:cNvPr id="14" name="Text 12"/>
          <p:cNvSpPr/>
          <p:nvPr/>
        </p:nvSpPr>
        <p:spPr>
          <a:xfrm>
            <a:off x="4636931" y="3789877"/>
            <a:ext cx="3146075"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Diagnosis by measuring, not guessing</a:t>
            </a:r>
            <a:endParaRPr lang="en-US" sz="1300" dirty="0"/>
          </a:p>
        </p:txBody>
      </p:sp>
      <p:sp>
        <p:nvSpPr>
          <p:cNvPr id="15" name="Text 13"/>
          <p:cNvSpPr/>
          <p:nvPr/>
        </p:nvSpPr>
        <p:spPr>
          <a:xfrm>
            <a:off x="4636931" y="4135245"/>
            <a:ext cx="3005654"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Scripted runs proving every room solvable</a:t>
            </a:r>
            <a:endParaRPr lang="en-US" sz="1300" dirty="0"/>
          </a:p>
        </p:txBody>
      </p:sp>
      <p:sp>
        <p:nvSpPr>
          <p:cNvPr id="16" name="Shape 14"/>
          <p:cNvSpPr/>
          <p:nvPr/>
        </p:nvSpPr>
        <p:spPr>
          <a:xfrm>
            <a:off x="7995689" y="1956215"/>
            <a:ext cx="3380389" cy="2872451"/>
          </a:xfrm>
          <a:prstGeom prst="roundRect">
            <a:avLst>
              <a:gd name="adj" fmla="val 3427"/>
            </a:avLst>
          </a:prstGeom>
          <a:solidFill>
            <a:srgbClr val="FBFCFD"/>
          </a:solidFill>
          <a:ln w="6350">
            <a:solidFill>
              <a:srgbClr val="D5DDE3"/>
            </a:solidFill>
            <a:prstDash val="solid"/>
          </a:ln>
        </p:spPr>
      </p:sp>
      <p:sp>
        <p:nvSpPr>
          <p:cNvPr id="17" name="Text 15"/>
          <p:cNvSpPr/>
          <p:nvPr/>
        </p:nvSpPr>
        <p:spPr>
          <a:xfrm>
            <a:off x="8226828" y="2187358"/>
            <a:ext cx="3005654" cy="360705"/>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0E1319"/>
                </a:solidFill>
                <a:latin typeface="Oswald" pitchFamily="34" charset="0"/>
                <a:ea typeface="Oswald" pitchFamily="34" charset="-122"/>
                <a:cs typeface="Oswald" pitchFamily="34" charset="-120"/>
              </a:rPr>
              <a:t>Human last</a:t>
            </a:r>
            <a:endParaRPr lang="en-US" sz="2200" dirty="0"/>
          </a:p>
        </p:txBody>
      </p:sp>
      <p:sp>
        <p:nvSpPr>
          <p:cNvPr id="18" name="Text 16"/>
          <p:cNvSpPr/>
          <p:nvPr/>
        </p:nvSpPr>
        <p:spPr>
          <a:xfrm>
            <a:off x="8226828" y="2636881"/>
            <a:ext cx="3005654"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Playtest every change</a:t>
            </a:r>
            <a:endParaRPr lang="en-US" sz="1300" dirty="0"/>
          </a:p>
        </p:txBody>
      </p:sp>
      <p:sp>
        <p:nvSpPr>
          <p:cNvPr id="19" name="Text 17"/>
          <p:cNvSpPr/>
          <p:nvPr/>
        </p:nvSpPr>
        <p:spPr>
          <a:xfrm>
            <a:off x="8226828" y="2982237"/>
            <a:ext cx="3005654"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Choose between options: clips, sounds, images</a:t>
            </a:r>
            <a:endParaRPr lang="en-US" sz="1300" dirty="0"/>
          </a:p>
        </p:txBody>
      </p:sp>
      <p:sp>
        <p:nvSpPr>
          <p:cNvPr id="20" name="Text 18"/>
          <p:cNvSpPr/>
          <p:nvPr/>
        </p:nvSpPr>
        <p:spPr>
          <a:xfrm>
            <a:off x="8226828" y="3558735"/>
            <a:ext cx="3005654"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Say what feels wrong</a:t>
            </a:r>
            <a:endParaRPr lang="en-US" sz="1300" dirty="0"/>
          </a:p>
        </p:txBody>
      </p:sp>
      <p:sp>
        <p:nvSpPr>
          <p:cNvPr id="21" name="Text 19"/>
          <p:cNvSpPr/>
          <p:nvPr/>
        </p:nvSpPr>
        <p:spPr>
          <a:xfrm>
            <a:off x="8226828" y="3904090"/>
            <a:ext cx="3005654"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6"/>
                </a:solidFill>
                <a:latin typeface="Public Sans" pitchFamily="34" charset="0"/>
                <a:ea typeface="Public Sans" pitchFamily="34" charset="-122"/>
                <a:cs typeface="Public Sans" pitchFamily="34" charset="-120"/>
              </a:rPr>
              <a:t>Approve anything risky, then commit</a:t>
            </a:r>
            <a:endParaRPr lang="en-US" sz="1300" dirty="0"/>
          </a:p>
        </p:txBody>
      </p:sp>
      <p:sp>
        <p:nvSpPr>
          <p:cNvPr id="22" name="Text 20"/>
          <p:cNvSpPr/>
          <p:nvPr/>
        </p:nvSpPr>
        <p:spPr>
          <a:xfrm>
            <a:off x="812720" y="5136623"/>
            <a:ext cx="10883529" cy="29205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E1319"/>
                </a:solidFill>
                <a:latin typeface="Public Sans" pitchFamily="34" charset="0"/>
                <a:ea typeface="Public Sans" pitchFamily="34" charset="-122"/>
                <a:cs typeface="Public Sans" pitchFamily="34" charset="-120"/>
              </a:rPr>
              <a:t>The AI did most of the typing. The decisions about what the game is, and whether it’s good, stayed with me.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319"/>
        </a:solidFill>
      </p:bgPr>
    </p:bg>
    <p:spTree>
      <p:nvGrpSpPr>
        <p:cNvPr id="1" name=""/>
        <p:cNvGrpSpPr/>
        <p:nvPr/>
      </p:nvGrpSpPr>
      <p:grpSpPr>
        <a:xfrm>
          <a:off x="0" y="0"/>
          <a:ext cx="0" cy="0"/>
          <a:chOff x="0" y="0"/>
          <a:chExt cx="0" cy="0"/>
        </a:xfrm>
      </p:grpSpPr>
      <p:pic>
        <p:nvPicPr>
          <p:cNvPr id="2" name="Image 0" descr="The game’s title screen: MISSION: APEX STRIKE over a test chamber with a sentry on a raised landing">    </p:cNvPr>
          <p:cNvPicPr>
            <a:picLocks noChangeAspect="1"/>
          </p:cNvPicPr>
          <p:nvPr/>
        </p:nvPicPr>
        <p:blipFill>
          <a:blip r:embed="rId1"/>
          <a:srcRect l="0" r="0" t="0" b="0"/>
          <a:stretch/>
        </p:blipFill>
        <p:spPr>
          <a:xfrm>
            <a:off x="0" y="0"/>
            <a:ext cx="12191973" cy="6857984"/>
          </a:xfrm>
          <a:prstGeom prst="rect">
            <a:avLst/>
          </a:prstGeom>
        </p:spPr>
      </p:pic>
      <p:sp>
        <p:nvSpPr>
          <p:cNvPr id="3" name="Shape 0"/>
          <p:cNvSpPr/>
          <p:nvPr/>
        </p:nvSpPr>
        <p:spPr>
          <a:xfrm>
            <a:off x="0" y="4825963"/>
            <a:ext cx="12191973" cy="2031935"/>
          </a:xfrm>
          <a:prstGeom prst="rect">
            <a:avLst/>
          </a:prstGeom>
          <a:gradFill rotWithShape="1">
            <a:gsLst>
              <a:gs pos="0">
                <a:srgbClr val="0E1319">
                  <a:alpha val="0"/>
                </a:srgbClr>
              </a:gs>
              <a:gs pos="45000">
                <a:srgbClr val="0E1319">
                  <a:alpha val="94000"/>
                </a:srgbClr>
              </a:gs>
            </a:gsLst>
            <a:lin ang="5400000" scaled="0"/>
          </a:gradFill>
          <a:ln/>
        </p:spPr>
      </p:sp>
      <p:sp>
        <p:nvSpPr>
          <p:cNvPr id="4" name="Text 1"/>
          <p:cNvSpPr/>
          <p:nvPr/>
        </p:nvSpPr>
        <p:spPr>
          <a:xfrm>
            <a:off x="812720" y="5714938"/>
            <a:ext cx="7194518" cy="59420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5C7F5"/>
                </a:solidFill>
                <a:latin typeface="Public Sans" pitchFamily="34" charset="0"/>
                <a:ea typeface="Public Sans" pitchFamily="34" charset="-122"/>
                <a:cs typeface="Public Sans" pitchFamily="34" charset="-120"/>
              </a:rPr>
              <a:t>Play:</a:t>
            </a:r>
            <a:r>
              <a:rPr lang="en-US" sz="1600" dirty="0">
                <a:solidFill>
                  <a:srgbClr val="E8EDF1"/>
                </a:solidFill>
                <a:latin typeface="Public Sans" pitchFamily="34" charset="0"/>
                <a:ea typeface="Public Sans" pitchFamily="34" charset="-122"/>
                <a:cs typeface="Public Sans" pitchFamily="34" charset="-120"/>
              </a:rPr>
              <a:t> aembear.itch.io/mission-apex-strike</a:t>
            </a:r>
            <a:endParaRPr lang="en-US" sz="1600" dirty="0"/>
          </a:p>
          <a:p>
            <a:pPr algn="l" indent="0" marL="0">
              <a:lnSpc>
                <a:spcPts val="2240"/>
              </a:lnSpc>
              <a:buNone/>
            </a:pPr>
            <a:r>
              <a:rPr lang="en-US" sz="1600" b="1" dirty="0">
                <a:solidFill>
                  <a:srgbClr val="55C7F5"/>
                </a:solidFill>
                <a:latin typeface="Public Sans" pitchFamily="34" charset="0"/>
                <a:ea typeface="Public Sans" pitchFamily="34" charset="-122"/>
                <a:cs typeface="Public Sans" pitchFamily="34" charset="-120"/>
              </a:rPr>
              <a:t>Code and prompt log:</a:t>
            </a:r>
            <a:r>
              <a:rPr lang="en-US" sz="1600" dirty="0">
                <a:solidFill>
                  <a:srgbClr val="E8EDF1"/>
                </a:solidFill>
                <a:latin typeface="Public Sans" pitchFamily="34" charset="0"/>
                <a:ea typeface="Public Sans" pitchFamily="34" charset="-122"/>
                <a:cs typeface="Public Sans" pitchFamily="34" charset="-120"/>
              </a:rPr>
              <a:t> github.com/williamedwards/mission-apex-strike</a:t>
            </a:r>
            <a:endParaRPr lang="en-US" sz="1600" dirty="0"/>
          </a:p>
        </p:txBody>
      </p:sp>
      <p:sp>
        <p:nvSpPr>
          <p:cNvPr id="5" name="Text 2"/>
          <p:cNvSpPr/>
          <p:nvPr/>
        </p:nvSpPr>
        <p:spPr>
          <a:xfrm>
            <a:off x="8161272" y="5841926"/>
            <a:ext cx="3217891" cy="523194"/>
          </a:xfrm>
          <a:prstGeom prst="rect">
            <a:avLst/>
          </a:prstGeom>
          <a:noFill/>
          <a:ln/>
        </p:spPr>
        <p:txBody>
          <a:bodyPr wrap="square" lIns="0" tIns="0" rIns="0" bIns="0" rtlCol="0" anchor="t">
            <a:normAutofit/>
          </a:bodyPr>
          <a:lstStyle/>
          <a:p>
            <a:pPr algn="r" indent="0" marL="0">
              <a:lnSpc>
                <a:spcPts val="3920"/>
              </a:lnSpc>
              <a:buNone/>
            </a:pPr>
            <a:r>
              <a:rPr lang="en-US" sz="2800" dirty="0">
                <a:solidFill>
                  <a:srgbClr val="E8EDF1"/>
                </a:solidFill>
                <a:latin typeface="Oswald" pitchFamily="34" charset="0"/>
                <a:ea typeface="Oswald" pitchFamily="34" charset="-122"/>
                <a:cs typeface="Oswald" pitchFamily="34" charset="-120"/>
              </a:rPr>
              <a:t>THANK YOU</a:t>
            </a:r>
            <a:endParaRPr lang="en-US" sz="2800" dirty="0"/>
          </a:p>
        </p:txBody>
      </p:sp>
    </p:spTree>
  </p:cSld>
  <p:clrMapOvr>
    <a:masterClrMapping/>
  </p:clrMapOvr>
</p:sld>
</file>

<file path=ppt/theme/theme1.xml><?xml version="1.0" encoding="utf-8"?>
<a:theme xmlns:a="http://schemas.openxmlformats.org/drawingml/2006/main" name="Mission: Apex Strike — Development">
  <a:themeElements>
    <a:clrScheme name="Mission: Apex Strike — Development">
      <a:dk1>
        <a:srgbClr val="0E1319"/>
      </a:dk1>
      <a:lt1>
        <a:srgbClr val="E8EDF1"/>
      </a:lt1>
      <a:dk2>
        <a:srgbClr val="24292F"/>
      </a:dk2>
      <a:lt2>
        <a:srgbClr val="B2B7BB"/>
      </a:lt2>
      <a:accent1>
        <a:srgbClr val="55C7F5"/>
      </a:accent1>
      <a:accent2>
        <a:srgbClr val="0B6C9E"/>
      </a:accent2>
      <a:accent3>
        <a:srgbClr val="F5A04A"/>
      </a:accent3>
      <a:accent4>
        <a:srgbClr val="1B3446"/>
      </a:accent4>
      <a:accent5>
        <a:srgbClr val="C3CFD8"/>
      </a:accent5>
      <a:accent6>
        <a:srgbClr val="9AABB9"/>
      </a:accent6>
      <a:hlink>
        <a:srgbClr val="0563C1"/>
      </a:hlink>
      <a:folHlink>
        <a:srgbClr val="954F72"/>
      </a:folHlink>
    </a:clrScheme>
    <a:fontScheme name="Mission: Apex Strike — Development">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Mission: Apex Strike — Development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2026-10-28T22:21:50Z</dcterms:created>
  <dcterms:modified xsi:type="dcterms:W3CDTF">2026-10-28T22:21:50Z</dcterms:modified>
</cp:coreProperties>
</file>